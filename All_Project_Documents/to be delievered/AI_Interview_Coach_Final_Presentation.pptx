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y and what" id="{2579680F-A131-63D7-F3A0-C6BE8DC2A813}">
          <p14:sldIdLst>
            <p14:sldId id="256"/>
            <p14:sldId id="257"/>
            <p14:sldId id="258"/>
            <p14:sldId id="259"/>
          </p14:sldIdLst>
        </p14:section>
        <p14:section name="How it works" id="{568B9C62-30C5-2690-03C4-6775AE3DB86A}">
          <p14:sldIdLst>
            <p14:sldId id="260"/>
            <p14:sldId id="261"/>
            <p14:sldId id="262"/>
            <p14:sldId id="263"/>
          </p14:sldIdLst>
        </p14:section>
        <p14:section name="Evidence" id="{8866381B-CAC1-8E9F-0AA8-308EE9AE2C07}">
          <p14:sldIdLst>
            <p14:sldId id="264"/>
            <p14:sldId id="265"/>
            <p14:sldId id="266"/>
            <p14:sldId id="267"/>
          </p14:sldIdLst>
        </p14:section>
        <p14:section name="Next and team" id="{E9273BB4-1DEB-40D0-F728-F330487DB161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3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F1F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1F1F4"/>
                </a:solidFill>
                <a:latin typeface="+mn-lt"/>
              </a:rPr>
              <a:t>Benchmark, lexical engine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(IM-4)</c:v>
                </c:pt>
              </c:strCache>
            </c:strRef>
          </c:tx>
          <c:spPr>
            <a:solidFill>
              <a:srgbClr val="26262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1F1F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Agreement, dev set</c:v>
                </c:pt>
                <c:pt idx="1">
                  <c:v>Agreement, held-out</c:v>
                </c:pt>
                <c:pt idx="2">
                  <c:v>Good follow-ups</c:v>
                </c:pt>
                <c:pt idx="3">
                  <c:v>Skill coverage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71.2</c:v>
                </c:pt>
                <c:pt idx="1">
                  <c:v>63</c:v>
                </c:pt>
                <c:pt idx="2">
                  <c:v>87.7</c:v>
                </c:pt>
                <c:pt idx="3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BB-48F8-952E-506873DC6F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(IM-5)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1F1F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Agreement, dev set</c:v>
                </c:pt>
                <c:pt idx="1">
                  <c:v>Agreement, held-out</c:v>
                </c:pt>
                <c:pt idx="2">
                  <c:v>Good follow-ups</c:v>
                </c:pt>
                <c:pt idx="3">
                  <c:v>Skill coverage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93.2</c:v>
                </c:pt>
                <c:pt idx="1">
                  <c:v>70.400000000000006</c:v>
                </c:pt>
                <c:pt idx="2">
                  <c:v>98.6</c:v>
                </c:pt>
                <c:pt idx="3">
                  <c:v>85.6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BB-48F8-952E-506873DC6F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9AA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A9AA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161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 in one sentence: a web application that helps students and job seekers practise interviews with feedback they can trust and act on. The screenshot is the real dashboard in dark mode with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common ways people prepare all fall short: static lists ignore the person, human mock interviews are scarce, and self-assessment is subjective. Source: Document 1, section 1.1.2.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journey in five steps. Decision D4 of the API specification: no paid or external AI in the MVP; a curated question bank and explainable rules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here if possible (about six minutes, script in Document 7, section 7.3.2). Use only synthetic data. Screens are the real app in dark mode with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 monolith: one database, a six-person team and scoring that takes milliseconds do not justify microservices; the layer boundaries still let us swap the scorer, retrieval or LLM. In production one container serves the app and the API from the same origin. Document 4, section 4.4.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answer gets six scores, each with a one-line explanation, and an overall weighted score. The figure is called a score, not confidence (decision D5). Behavioral questions use different weights and do not assess technical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statuses: explained, partly explained, named only, not found, with the sentence from the answer as evidence. Limits: one follow-up per question, none on a follow-up, two to four per interview, two per competency. Benchmark on developer-labelled cases with the lexical engine (Document 6, 6.3.3).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 uses the role’s required and preferred skills, the job description and the confirmed profile; it skips near-duplicates and down-ranks recent questions. Measured over 42 planned interviews. The plan compares what the CV claims with what the interviews showed.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Mitigates risks R09 (CV privacy) and R10 (prompt injection): scoring is never done by an LLM, and any LLM output is schema-checked and policy-checked. Logs never contain passwords, tokens, CV text or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Agreement is with expected score bands written by the developers, not independent raters; the held-out set (27 cases) was never used for tuning, so 70.4% is the honest number. Paraphrased correct answers remain the lexical engine’s main weakness. Details: Document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working decisions D1 to D8 are recorded in the API specification and summarised in Document 4, Table 4.2.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what changed and why. Deferred by decision: voice answers (D6), LLM generation (D4), BERT/DistilBERT (D5). Full traceability of all 73 functional requirements is in Document 4, section 4.3.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before new features. Owners and dates are to be confirmed by the team. Document 6, section 6.6 and Document 7, section 7.2.4.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as planned in Document 1, section 1.3.1. Invite questions; keep the demo account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a785369-967a-5676-bfea-1cdcb377fcf3/scratchpad/ppt/img/grad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24128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1F4"/>
                </a:solidFill>
              </a:rPr>
              <a:t>Interview Coach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9525">
            <a:solidFill>
              <a:srgbClr val="2626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5"/>
                </a:solidFill>
              </a:rPr>
              <a:t>Team 147  ·  AI Capstone Project</a:t>
            </a:r>
            <a:endParaRPr lang="en-US" sz="1000" dirty="0"/>
          </a:p>
        </p:txBody>
      </p:sp>
      <p:sp>
        <p:nvSpPr>
          <p:cNvPr id="7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rgbClr val="818CF8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1F1F4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a785369-967a-5676-bfea-1cdcb377fcf3/scratchpad/ppt/img/grad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24128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1F4"/>
                </a:solidFill>
              </a:rPr>
              <a:t>Interview Coach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1"/>
          <p:cNvSpPr/>
          <p:nvPr/>
        </p:nvSpPr>
        <p:spPr>
          <a:xfrm>
            <a:off x="548640" y="1783080"/>
            <a:ext cx="329184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chip-text-2"/>
          <p:cNvSpPr txBox="1"/>
          <p:nvPr/>
        </p:nvSpPr>
        <p:spPr>
          <a:xfrm>
            <a:off x="548640" y="17830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TEAM 147  ·  AI CAPSTONE PROJECT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548640" y="22860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</a:rPr>
              <a:t>AI Interview Coach</a:t>
            </a:r>
            <a:endParaRPr lang="en-US" sz="4800" dirty="0"/>
          </a:p>
        </p:txBody>
      </p:sp>
      <p:sp>
        <p:nvSpPr>
          <p:cNvPr id="5" name="text-4"/>
          <p:cNvSpPr txBox="1"/>
          <p:nvPr/>
        </p:nvSpPr>
        <p:spPr>
          <a:xfrm>
            <a:off x="548640" y="32461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Walk into every interview </a:t>
            </a:r>
            <a:r>
              <a:rPr lang="en-US" sz="2400" b="1" dirty="0">
                <a:solidFill>
                  <a:schemeClr val="accent1"/>
                </a:solidFill>
              </a:rPr>
              <a:t>prepared and confident.</a:t>
            </a:r>
            <a:endParaRPr lang="en-US" sz="2400" dirty="0"/>
          </a:p>
        </p:txBody>
      </p:sp>
      <p:sp>
        <p:nvSpPr>
          <p:cNvPr id="6" name="text-5"/>
          <p:cNvSpPr txBox="1"/>
          <p:nvPr/>
        </p:nvSpPr>
        <p:spPr>
          <a:xfrm>
            <a:off x="548640" y="4160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CV-aware interview practice with explained scoring and a personal improvement plan.</a:t>
            </a:r>
            <a:endParaRPr lang="en-US" sz="1600" dirty="0"/>
          </a:p>
        </p:txBody>
      </p:sp>
      <p:pic>
        <p:nvPicPr>
          <p:cNvPr id="7" name="cover-button" descr="/tmp/claude-0/-home-claude/aa785369-967a-5676-bfea-1cdcb377fcf3/scratchpad/ppt/img/grad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66360"/>
            <a:ext cx="3017520" cy="502920"/>
          </a:xfrm>
          <a:prstGeom prst="rect">
            <a:avLst/>
          </a:prstGeom>
        </p:spPr>
      </p:pic>
      <p:sp>
        <p:nvSpPr>
          <p:cNvPr id="8" name="text-6"/>
          <p:cNvSpPr txBox="1"/>
          <p:nvPr/>
        </p:nvSpPr>
        <p:spPr>
          <a:xfrm>
            <a:off x="548640" y="5166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Hybrid track: NLP + LLMs &amp; RAG</a:t>
            </a:r>
            <a:endParaRPr lang="en-US" sz="1200" dirty="0"/>
          </a:p>
        </p:txBody>
      </p:sp>
      <p:sp>
        <p:nvSpPr>
          <p:cNvPr id="9" name="text-7"/>
          <p:cNvSpPr txBox="1"/>
          <p:nvPr/>
        </p:nvSpPr>
        <p:spPr>
          <a:xfrm>
            <a:off x="3749040" y="5166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October 2026</a:t>
            </a:r>
            <a:endParaRPr lang="en-US" sz="1300" dirty="0"/>
          </a:p>
        </p:txBody>
      </p:sp>
      <p:sp>
        <p:nvSpPr>
          <p:cNvPr id="10" name="card-8"/>
          <p:cNvSpPr/>
          <p:nvPr/>
        </p:nvSpPr>
        <p:spPr>
          <a:xfrm>
            <a:off x="6483096" y="1636776"/>
            <a:ext cx="5230368" cy="3813048"/>
          </a:xfrm>
          <a:prstGeom prst="roundRect">
            <a:avLst>
              <a:gd name="adj" fmla="val 3357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shot-9" descr="The app dashboard in dark mode: average score, interviews completed, recent sessions and a skill snapsho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37960" y="1691640"/>
            <a:ext cx="51206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Candidates practise without specific, repeatable feedback</a:t>
            </a:r>
            <a:endParaRPr lang="en-US" sz="2800" dirty="0"/>
          </a:p>
        </p:txBody>
      </p:sp>
      <p:sp>
        <p:nvSpPr>
          <p:cNvPr id="4" name="card-10"/>
          <p:cNvSpPr/>
          <p:nvPr/>
        </p:nvSpPr>
        <p:spPr>
          <a:xfrm>
            <a:off x="548640" y="2606040"/>
            <a:ext cx="3520440" cy="3017520"/>
          </a:xfrm>
          <a:prstGeom prst="roundRect">
            <a:avLst>
              <a:gd name="adj" fmla="val 4242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icon-bg-11"/>
          <p:cNvSpPr/>
          <p:nvPr/>
        </p:nvSpPr>
        <p:spPr>
          <a:xfrm>
            <a:off x="868680" y="2926080"/>
            <a:ext cx="777240" cy="777240"/>
          </a:xfrm>
          <a:prstGeom prst="ellipse">
            <a:avLst/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con-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118104"/>
            <a:ext cx="393192" cy="393192"/>
          </a:xfrm>
          <a:prstGeom prst="rect">
            <a:avLst/>
          </a:prstGeom>
        </p:spPr>
      </p:pic>
      <p:sp>
        <p:nvSpPr>
          <p:cNvPr id="7" name="text-13"/>
          <p:cNvSpPr txBox="1"/>
          <p:nvPr/>
        </p:nvSpPr>
        <p:spPr>
          <a:xfrm>
            <a:off x="86868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Generic question lists</a:t>
            </a:r>
            <a:endParaRPr lang="en-US" sz="2000" dirty="0"/>
          </a:p>
        </p:txBody>
      </p:sp>
      <p:sp>
        <p:nvSpPr>
          <p:cNvPr id="8" name="text-14"/>
          <p:cNvSpPr txBox="1"/>
          <p:nvPr/>
        </p:nvSpPr>
        <p:spPr>
          <a:xfrm>
            <a:off x="868680" y="4434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Not tied to the candidate’s own CV or to the role they want.</a:t>
            </a:r>
            <a:endParaRPr lang="en-US" sz="1500" dirty="0"/>
          </a:p>
        </p:txBody>
      </p:sp>
      <p:sp>
        <p:nvSpPr>
          <p:cNvPr id="9" name="card-15"/>
          <p:cNvSpPr/>
          <p:nvPr/>
        </p:nvSpPr>
        <p:spPr>
          <a:xfrm>
            <a:off x="4297680" y="2606040"/>
            <a:ext cx="3520440" cy="3017520"/>
          </a:xfrm>
          <a:prstGeom prst="roundRect">
            <a:avLst>
              <a:gd name="adj" fmla="val 4242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con-bg-16"/>
          <p:cNvSpPr/>
          <p:nvPr/>
        </p:nvSpPr>
        <p:spPr>
          <a:xfrm>
            <a:off x="4617720" y="2926080"/>
            <a:ext cx="777240" cy="777240"/>
          </a:xfrm>
          <a:prstGeom prst="ellipse">
            <a:avLst/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con-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3118104"/>
            <a:ext cx="393192" cy="393192"/>
          </a:xfrm>
          <a:prstGeom prst="rect">
            <a:avLst/>
          </a:prstGeom>
        </p:spPr>
      </p:pic>
      <p:sp>
        <p:nvSpPr>
          <p:cNvPr id="12" name="text-18"/>
          <p:cNvSpPr txBox="1"/>
          <p:nvPr/>
        </p:nvSpPr>
        <p:spPr>
          <a:xfrm>
            <a:off x="461772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Scarce mock interviews</a:t>
            </a:r>
            <a:endParaRPr lang="en-US" sz="2000" dirty="0"/>
          </a:p>
        </p:txBody>
      </p:sp>
      <p:sp>
        <p:nvSpPr>
          <p:cNvPr id="13" name="text-19"/>
          <p:cNvSpPr txBox="1"/>
          <p:nvPr/>
        </p:nvSpPr>
        <p:spPr>
          <a:xfrm>
            <a:off x="4617720" y="4434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Mentors and career centres help, but are hard to book and to repeat.</a:t>
            </a:r>
            <a:endParaRPr lang="en-US" sz="1500" dirty="0"/>
          </a:p>
        </p:txBody>
      </p:sp>
      <p:sp>
        <p:nvSpPr>
          <p:cNvPr id="14" name="card-20"/>
          <p:cNvSpPr/>
          <p:nvPr/>
        </p:nvSpPr>
        <p:spPr>
          <a:xfrm>
            <a:off x="8046720" y="2606040"/>
            <a:ext cx="3520440" cy="3017520"/>
          </a:xfrm>
          <a:prstGeom prst="roundRect">
            <a:avLst>
              <a:gd name="adj" fmla="val 4242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icon-bg-21"/>
          <p:cNvSpPr/>
          <p:nvPr/>
        </p:nvSpPr>
        <p:spPr>
          <a:xfrm>
            <a:off x="8366760" y="2926080"/>
            <a:ext cx="777240" cy="777240"/>
          </a:xfrm>
          <a:prstGeom prst="ellipse">
            <a:avLst/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con-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3118104"/>
            <a:ext cx="393192" cy="393192"/>
          </a:xfrm>
          <a:prstGeom prst="rect">
            <a:avLst/>
          </a:prstGeom>
        </p:spPr>
      </p:pic>
      <p:sp>
        <p:nvSpPr>
          <p:cNvPr id="17" name="text-23"/>
          <p:cNvSpPr txBox="1"/>
          <p:nvPr/>
        </p:nvSpPr>
        <p:spPr>
          <a:xfrm>
            <a:off x="836676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Subjective self-review</a:t>
            </a:r>
            <a:endParaRPr lang="en-US" sz="2000" dirty="0"/>
          </a:p>
        </p:txBody>
      </p:sp>
      <p:sp>
        <p:nvSpPr>
          <p:cNvPr id="18" name="text-24"/>
          <p:cNvSpPr txBox="1"/>
          <p:nvPr/>
        </p:nvSpPr>
        <p:spPr>
          <a:xfrm>
            <a:off x="8366760" y="4434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Hard to tell which answers are weak, and why.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Your own CV, every score explained, a plan to follow</a:t>
            </a:r>
            <a:endParaRPr lang="en-US" sz="2800" dirty="0"/>
          </a:p>
        </p:txBody>
      </p:sp>
      <p:sp>
        <p:nvSpPr>
          <p:cNvPr id="4" name="card-25"/>
          <p:cNvSpPr/>
          <p:nvPr/>
        </p:nvSpPr>
        <p:spPr>
          <a:xfrm>
            <a:off x="548640" y="2697480"/>
            <a:ext cx="2011680" cy="22402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step-dot-26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71800"/>
            <a:ext cx="566928" cy="566928"/>
          </a:xfrm>
          <a:prstGeom prst="rect">
            <a:avLst/>
          </a:prstGeom>
        </p:spPr>
      </p:pic>
      <p:sp>
        <p:nvSpPr>
          <p:cNvPr id="6" name="text-27"/>
          <p:cNvSpPr txBox="1"/>
          <p:nvPr/>
        </p:nvSpPr>
        <p:spPr>
          <a:xfrm>
            <a:off x="82296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-28"/>
          <p:cNvSpPr txBox="1"/>
          <p:nvPr/>
        </p:nvSpPr>
        <p:spPr>
          <a:xfrm>
            <a:off x="822960" y="3749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Upload CV and confirm profile</a:t>
            </a:r>
            <a:endParaRPr lang="en-US" sz="1500" dirty="0"/>
          </a:p>
        </p:txBody>
      </p:sp>
      <p:pic>
        <p:nvPicPr>
          <p:cNvPr id="8" name="arrow-2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3657600"/>
            <a:ext cx="201168" cy="201168"/>
          </a:xfrm>
          <a:prstGeom prst="rect">
            <a:avLst/>
          </a:prstGeom>
        </p:spPr>
      </p:pic>
      <p:sp>
        <p:nvSpPr>
          <p:cNvPr id="9" name="card-30"/>
          <p:cNvSpPr/>
          <p:nvPr/>
        </p:nvSpPr>
        <p:spPr>
          <a:xfrm>
            <a:off x="2834640" y="2697480"/>
            <a:ext cx="2011680" cy="22402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step-dot-31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971800"/>
            <a:ext cx="566928" cy="566928"/>
          </a:xfrm>
          <a:prstGeom prst="rect">
            <a:avLst/>
          </a:prstGeom>
        </p:spPr>
      </p:pic>
      <p:sp>
        <p:nvSpPr>
          <p:cNvPr id="11" name="text-32"/>
          <p:cNvSpPr txBox="1"/>
          <p:nvPr/>
        </p:nvSpPr>
        <p:spPr>
          <a:xfrm>
            <a:off x="310896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-33"/>
          <p:cNvSpPr txBox="1"/>
          <p:nvPr/>
        </p:nvSpPr>
        <p:spPr>
          <a:xfrm>
            <a:off x="3108960" y="3749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Choose role, type and difficulty</a:t>
            </a:r>
            <a:endParaRPr lang="en-US" sz="1500" dirty="0"/>
          </a:p>
        </p:txBody>
      </p:sp>
      <p:pic>
        <p:nvPicPr>
          <p:cNvPr id="13" name="arrow-3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3657600"/>
            <a:ext cx="201168" cy="201168"/>
          </a:xfrm>
          <a:prstGeom prst="rect">
            <a:avLst/>
          </a:prstGeom>
        </p:spPr>
      </p:pic>
      <p:sp>
        <p:nvSpPr>
          <p:cNvPr id="14" name="card-35"/>
          <p:cNvSpPr/>
          <p:nvPr/>
        </p:nvSpPr>
        <p:spPr>
          <a:xfrm>
            <a:off x="5120640" y="2697480"/>
            <a:ext cx="2011680" cy="22402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step-dot-36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971800"/>
            <a:ext cx="566928" cy="566928"/>
          </a:xfrm>
          <a:prstGeom prst="rect">
            <a:avLst/>
          </a:prstGeom>
        </p:spPr>
      </p:pic>
      <p:sp>
        <p:nvSpPr>
          <p:cNvPr id="16" name="text-37"/>
          <p:cNvSpPr txBox="1"/>
          <p:nvPr/>
        </p:nvSpPr>
        <p:spPr>
          <a:xfrm>
            <a:off x="539496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-38"/>
          <p:cNvSpPr txBox="1"/>
          <p:nvPr/>
        </p:nvSpPr>
        <p:spPr>
          <a:xfrm>
            <a:off x="5394960" y="3749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Answer questions chosen for you</a:t>
            </a:r>
            <a:endParaRPr lang="en-US" sz="1500" dirty="0"/>
          </a:p>
        </p:txBody>
      </p:sp>
      <p:pic>
        <p:nvPicPr>
          <p:cNvPr id="18" name="arrow-3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3657600"/>
            <a:ext cx="201168" cy="201168"/>
          </a:xfrm>
          <a:prstGeom prst="rect">
            <a:avLst/>
          </a:prstGeom>
        </p:spPr>
      </p:pic>
      <p:sp>
        <p:nvSpPr>
          <p:cNvPr id="19" name="card-40"/>
          <p:cNvSpPr/>
          <p:nvPr/>
        </p:nvSpPr>
        <p:spPr>
          <a:xfrm>
            <a:off x="7406640" y="2697480"/>
            <a:ext cx="2011680" cy="22402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step-dot-41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971800"/>
            <a:ext cx="566928" cy="566928"/>
          </a:xfrm>
          <a:prstGeom prst="rect">
            <a:avLst/>
          </a:prstGeom>
        </p:spPr>
      </p:pic>
      <p:sp>
        <p:nvSpPr>
          <p:cNvPr id="21" name="text-42"/>
          <p:cNvSpPr txBox="1"/>
          <p:nvPr/>
        </p:nvSpPr>
        <p:spPr>
          <a:xfrm>
            <a:off x="768096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-43"/>
          <p:cNvSpPr txBox="1"/>
          <p:nvPr/>
        </p:nvSpPr>
        <p:spPr>
          <a:xfrm>
            <a:off x="7680960" y="3749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explained feedback and follow-ups</a:t>
            </a:r>
            <a:endParaRPr lang="en-US" sz="1500" dirty="0"/>
          </a:p>
        </p:txBody>
      </p:sp>
      <p:pic>
        <p:nvPicPr>
          <p:cNvPr id="23" name="arrow-4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3657600"/>
            <a:ext cx="201168" cy="201168"/>
          </a:xfrm>
          <a:prstGeom prst="rect">
            <a:avLst/>
          </a:prstGeom>
        </p:spPr>
      </p:pic>
      <p:sp>
        <p:nvSpPr>
          <p:cNvPr id="24" name="card-45"/>
          <p:cNvSpPr/>
          <p:nvPr/>
        </p:nvSpPr>
        <p:spPr>
          <a:xfrm>
            <a:off x="9692640" y="2697480"/>
            <a:ext cx="2011680" cy="22402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step-dot-46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971800"/>
            <a:ext cx="566928" cy="566928"/>
          </a:xfrm>
          <a:prstGeom prst="rect">
            <a:avLst/>
          </a:prstGeom>
        </p:spPr>
      </p:pic>
      <p:sp>
        <p:nvSpPr>
          <p:cNvPr id="26" name="text-47"/>
          <p:cNvSpPr txBox="1"/>
          <p:nvPr/>
        </p:nvSpPr>
        <p:spPr>
          <a:xfrm>
            <a:off x="996696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-48"/>
          <p:cNvSpPr txBox="1"/>
          <p:nvPr/>
        </p:nvSpPr>
        <p:spPr>
          <a:xfrm>
            <a:off x="9966960" y="3749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Follow your improvement plan</a:t>
            </a:r>
            <a:endParaRPr lang="en-US" sz="1500" dirty="0"/>
          </a:p>
        </p:txBody>
      </p:sp>
      <p:sp>
        <p:nvSpPr>
          <p:cNvPr id="28" name="card-49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-50"/>
          <p:cNvSpPr txBox="1"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Runs on our own server: </a:t>
            </a:r>
            <a:r>
              <a:rPr lang="en-US" sz="1500" dirty="0">
                <a:solidFill>
                  <a:schemeClr val="tx2"/>
                </a:solidFill>
              </a:rPr>
              <a:t>no paid AI service is needed, and no CV text leaves the machine by default.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THE PRODUCT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One interview, from setup to results</a:t>
            </a:r>
            <a:endParaRPr lang="en-US" sz="2800" dirty="0"/>
          </a:p>
        </p:txBody>
      </p:sp>
      <p:sp>
        <p:nvSpPr>
          <p:cNvPr id="4" name="card-51"/>
          <p:cNvSpPr/>
          <p:nvPr/>
        </p:nvSpPr>
        <p:spPr>
          <a:xfrm>
            <a:off x="548640" y="2459736"/>
            <a:ext cx="3538728" cy="3127248"/>
          </a:xfrm>
          <a:prstGeom prst="roundRect">
            <a:avLst>
              <a:gd name="adj" fmla="val 4094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shot-52" descr="Interview setup: role, type, difficulty, number of questions, job description and adaptive follow-up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" y="2514600"/>
            <a:ext cx="3429000" cy="3017520"/>
          </a:xfrm>
          <a:prstGeom prst="rect">
            <a:avLst/>
          </a:prstGeom>
        </p:spPr>
      </p:pic>
      <p:sp>
        <p:nvSpPr>
          <p:cNvPr id="6" name="text-53"/>
          <p:cNvSpPr txBox="1"/>
          <p:nvPr/>
        </p:nvSpPr>
        <p:spPr>
          <a:xfrm>
            <a:off x="603504" y="5715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  Set up the interview</a:t>
            </a:r>
            <a:endParaRPr lang="en-US" sz="1300" dirty="0"/>
          </a:p>
        </p:txBody>
      </p:sp>
      <p:sp>
        <p:nvSpPr>
          <p:cNvPr id="7" name="card-54"/>
          <p:cNvSpPr/>
          <p:nvPr/>
        </p:nvSpPr>
        <p:spPr>
          <a:xfrm>
            <a:off x="4325112" y="2459736"/>
            <a:ext cx="3538728" cy="3127248"/>
          </a:xfrm>
          <a:prstGeom prst="roundRect">
            <a:avLst>
              <a:gd name="adj" fmla="val 4094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shot-55" descr="Interview session showing the question and why it was chose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79976" y="2514600"/>
            <a:ext cx="3429000" cy="3017520"/>
          </a:xfrm>
          <a:prstGeom prst="rect">
            <a:avLst/>
          </a:prstGeom>
        </p:spPr>
      </p:pic>
      <p:sp>
        <p:nvSpPr>
          <p:cNvPr id="9" name="text-56"/>
          <p:cNvSpPr txBox="1"/>
          <p:nvPr/>
        </p:nvSpPr>
        <p:spPr>
          <a:xfrm>
            <a:off x="4379976" y="5715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 Answer, with the reason for each question</a:t>
            </a:r>
            <a:endParaRPr lang="en-US" sz="1300" dirty="0"/>
          </a:p>
        </p:txBody>
      </p:sp>
      <p:sp>
        <p:nvSpPr>
          <p:cNvPr id="10" name="card-57"/>
          <p:cNvSpPr/>
          <p:nvPr/>
        </p:nvSpPr>
        <p:spPr>
          <a:xfrm>
            <a:off x="8101584" y="2459736"/>
            <a:ext cx="3538728" cy="3127248"/>
          </a:xfrm>
          <a:prstGeom prst="roundRect">
            <a:avLst>
              <a:gd name="adj" fmla="val 4094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shot-58" descr="Interview results with overall score, breakdown, strengths and recommendation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56448" y="2514600"/>
            <a:ext cx="3429000" cy="3017520"/>
          </a:xfrm>
          <a:prstGeom prst="rect">
            <a:avLst/>
          </a:prstGeom>
        </p:spPr>
      </p:pic>
      <p:sp>
        <p:nvSpPr>
          <p:cNvPr id="12" name="text-59"/>
          <p:cNvSpPr txBox="1"/>
          <p:nvPr/>
        </p:nvSpPr>
        <p:spPr>
          <a:xfrm>
            <a:off x="8156448" y="5715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 Results, breakdown and plan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A layered monolith: rules decide, AI adds evidence</a:t>
            </a:r>
            <a:endParaRPr lang="en-US" sz="2800" dirty="0"/>
          </a:p>
        </p:txBody>
      </p:sp>
      <p:sp>
        <p:nvSpPr>
          <p:cNvPr id="4" name="card-60"/>
          <p:cNvSpPr/>
          <p:nvPr/>
        </p:nvSpPr>
        <p:spPr>
          <a:xfrm>
            <a:off x="548640" y="2514600"/>
            <a:ext cx="859536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-61"/>
          <p:cNvSpPr txBox="1"/>
          <p:nvPr/>
        </p:nvSpPr>
        <p:spPr>
          <a:xfrm>
            <a:off x="777240" y="2514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Presentation</a:t>
            </a:r>
            <a:endParaRPr lang="en-US" sz="1500" dirty="0"/>
          </a:p>
        </p:txBody>
      </p:sp>
      <p:sp>
        <p:nvSpPr>
          <p:cNvPr id="6" name="text-62"/>
          <p:cNvSpPr txBox="1"/>
          <p:nvPr/>
        </p:nvSpPr>
        <p:spPr>
          <a:xfrm>
            <a:off x="2103120" y="2514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React 18 + Vite SPA</a:t>
            </a:r>
            <a:endParaRPr lang="en-US" sz="1200" dirty="0"/>
          </a:p>
        </p:txBody>
      </p:sp>
      <p:sp>
        <p:nvSpPr>
          <p:cNvPr id="7" name="chip-63"/>
          <p:cNvSpPr/>
          <p:nvPr/>
        </p:nvSpPr>
        <p:spPr>
          <a:xfrm>
            <a:off x="4160520" y="2715768"/>
            <a:ext cx="844906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chip-text-64"/>
          <p:cNvSpPr txBox="1"/>
          <p:nvPr/>
        </p:nvSpPr>
        <p:spPr>
          <a:xfrm>
            <a:off x="4160520" y="2715768"/>
            <a:ext cx="844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13 pages</a:t>
            </a:r>
            <a:endParaRPr lang="en-US" sz="1000" dirty="0"/>
          </a:p>
        </p:txBody>
      </p:sp>
      <p:sp>
        <p:nvSpPr>
          <p:cNvPr id="9" name="chip-65"/>
          <p:cNvSpPr/>
          <p:nvPr/>
        </p:nvSpPr>
        <p:spPr>
          <a:xfrm>
            <a:off x="5078578" y="2715768"/>
            <a:ext cx="1201522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chip-text-66"/>
          <p:cNvSpPr txBox="1"/>
          <p:nvPr/>
        </p:nvSpPr>
        <p:spPr>
          <a:xfrm>
            <a:off x="5078578" y="2715768"/>
            <a:ext cx="1201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32 components</a:t>
            </a:r>
            <a:endParaRPr lang="en-US" sz="1000" dirty="0"/>
          </a:p>
        </p:txBody>
      </p:sp>
      <p:sp>
        <p:nvSpPr>
          <p:cNvPr id="11" name="chip-67"/>
          <p:cNvSpPr/>
          <p:nvPr/>
        </p:nvSpPr>
        <p:spPr>
          <a:xfrm>
            <a:off x="6353251" y="2715768"/>
            <a:ext cx="1201522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chip-text-68"/>
          <p:cNvSpPr txBox="1"/>
          <p:nvPr/>
        </p:nvSpPr>
        <p:spPr>
          <a:xfrm>
            <a:off x="6353251" y="2715768"/>
            <a:ext cx="1201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api.js client</a:t>
            </a:r>
            <a:endParaRPr lang="en-US" sz="1000" dirty="0"/>
          </a:p>
        </p:txBody>
      </p:sp>
      <p:sp>
        <p:nvSpPr>
          <p:cNvPr id="13" name="chip-69"/>
          <p:cNvSpPr/>
          <p:nvPr/>
        </p:nvSpPr>
        <p:spPr>
          <a:xfrm>
            <a:off x="7627925" y="2715768"/>
            <a:ext cx="1130198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chip-text-70"/>
          <p:cNvSpPr txBox="1"/>
          <p:nvPr/>
        </p:nvSpPr>
        <p:spPr>
          <a:xfrm>
            <a:off x="7627925" y="2715768"/>
            <a:ext cx="11301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Light / dark</a:t>
            </a:r>
            <a:endParaRPr lang="en-US" sz="1000" dirty="0"/>
          </a:p>
        </p:txBody>
      </p:sp>
      <p:sp>
        <p:nvSpPr>
          <p:cNvPr id="15" name="card-71"/>
          <p:cNvSpPr/>
          <p:nvPr/>
        </p:nvSpPr>
        <p:spPr>
          <a:xfrm>
            <a:off x="548640" y="3383280"/>
            <a:ext cx="859536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-72"/>
          <p:cNvSpPr txBox="1"/>
          <p:nvPr/>
        </p:nvSpPr>
        <p:spPr>
          <a:xfrm>
            <a:off x="777240" y="3383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API</a:t>
            </a:r>
            <a:endParaRPr lang="en-US" sz="1500" dirty="0"/>
          </a:p>
        </p:txBody>
      </p:sp>
      <p:sp>
        <p:nvSpPr>
          <p:cNvPr id="17" name="text-73"/>
          <p:cNvSpPr txBox="1"/>
          <p:nvPr/>
        </p:nvSpPr>
        <p:spPr>
          <a:xfrm>
            <a:off x="210312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FastAPI /api/v1</a:t>
            </a:r>
            <a:endParaRPr lang="en-US" sz="1200" dirty="0"/>
          </a:p>
        </p:txBody>
      </p:sp>
      <p:sp>
        <p:nvSpPr>
          <p:cNvPr id="18" name="chip-74"/>
          <p:cNvSpPr/>
          <p:nvPr/>
        </p:nvSpPr>
        <p:spPr>
          <a:xfrm>
            <a:off x="4160520" y="3584448"/>
            <a:ext cx="987552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chip-text-75"/>
          <p:cNvSpPr txBox="1"/>
          <p:nvPr/>
        </p:nvSpPr>
        <p:spPr>
          <a:xfrm>
            <a:off x="4160520" y="3584448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Auth + JWT</a:t>
            </a:r>
            <a:endParaRPr lang="en-US" sz="1000" dirty="0"/>
          </a:p>
        </p:txBody>
      </p:sp>
      <p:sp>
        <p:nvSpPr>
          <p:cNvPr id="20" name="chip-76"/>
          <p:cNvSpPr/>
          <p:nvPr/>
        </p:nvSpPr>
        <p:spPr>
          <a:xfrm>
            <a:off x="5221224" y="3584448"/>
            <a:ext cx="987552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chip-text-77"/>
          <p:cNvSpPr txBox="1"/>
          <p:nvPr/>
        </p:nvSpPr>
        <p:spPr>
          <a:xfrm>
            <a:off x="5221224" y="3584448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22" name="chip-78"/>
          <p:cNvSpPr/>
          <p:nvPr/>
        </p:nvSpPr>
        <p:spPr>
          <a:xfrm>
            <a:off x="6281928" y="3584448"/>
            <a:ext cx="1272845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chip-text-79"/>
          <p:cNvSpPr txBox="1"/>
          <p:nvPr/>
        </p:nvSpPr>
        <p:spPr>
          <a:xfrm>
            <a:off x="6281928" y="3584448"/>
            <a:ext cx="12728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Error envelope</a:t>
            </a:r>
            <a:endParaRPr lang="en-US" sz="1000" dirty="0"/>
          </a:p>
        </p:txBody>
      </p:sp>
      <p:sp>
        <p:nvSpPr>
          <p:cNvPr id="24" name="chip-80"/>
          <p:cNvSpPr/>
          <p:nvPr/>
        </p:nvSpPr>
        <p:spPr>
          <a:xfrm>
            <a:off x="7627925" y="3584448"/>
            <a:ext cx="1201522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chip-text-81"/>
          <p:cNvSpPr txBox="1"/>
          <p:nvPr/>
        </p:nvSpPr>
        <p:spPr>
          <a:xfrm>
            <a:off x="7627925" y="3584448"/>
            <a:ext cx="1201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Per-user data</a:t>
            </a:r>
            <a:endParaRPr lang="en-US" sz="1000" dirty="0"/>
          </a:p>
        </p:txBody>
      </p:sp>
      <p:sp>
        <p:nvSpPr>
          <p:cNvPr id="26" name="card-82"/>
          <p:cNvSpPr/>
          <p:nvPr/>
        </p:nvSpPr>
        <p:spPr>
          <a:xfrm>
            <a:off x="548640" y="4251960"/>
            <a:ext cx="859536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-83"/>
          <p:cNvSpPr txBox="1"/>
          <p:nvPr/>
        </p:nvSpPr>
        <p:spPr>
          <a:xfrm>
            <a:off x="777240" y="4251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Intelligence</a:t>
            </a:r>
            <a:endParaRPr lang="en-US" sz="1500" dirty="0"/>
          </a:p>
        </p:txBody>
      </p:sp>
      <p:sp>
        <p:nvSpPr>
          <p:cNvPr id="28" name="text-84"/>
          <p:cNvSpPr txBox="1"/>
          <p:nvPr/>
        </p:nvSpPr>
        <p:spPr>
          <a:xfrm>
            <a:off x="2103120" y="4251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In-process, deterministic first</a:t>
            </a:r>
            <a:endParaRPr lang="en-US" sz="1200" dirty="0"/>
          </a:p>
        </p:txBody>
      </p:sp>
      <p:sp>
        <p:nvSpPr>
          <p:cNvPr id="29" name="chip-85"/>
          <p:cNvSpPr/>
          <p:nvPr/>
        </p:nvSpPr>
        <p:spPr>
          <a:xfrm>
            <a:off x="4160520" y="4453128"/>
            <a:ext cx="1201522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chip-text-86"/>
          <p:cNvSpPr txBox="1"/>
          <p:nvPr/>
        </p:nvSpPr>
        <p:spPr>
          <a:xfrm>
            <a:off x="4160520" y="4453128"/>
            <a:ext cx="1201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Rubric scorer</a:t>
            </a:r>
            <a:endParaRPr lang="en-US" sz="1000" dirty="0"/>
          </a:p>
        </p:txBody>
      </p:sp>
      <p:sp>
        <p:nvSpPr>
          <p:cNvPr id="31" name="chip-87"/>
          <p:cNvSpPr/>
          <p:nvPr/>
        </p:nvSpPr>
        <p:spPr>
          <a:xfrm>
            <a:off x="5435194" y="4453128"/>
            <a:ext cx="916229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chip-text-88"/>
          <p:cNvSpPr txBox="1"/>
          <p:nvPr/>
        </p:nvSpPr>
        <p:spPr>
          <a:xfrm>
            <a:off x="5435194" y="4453128"/>
            <a:ext cx="9162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Retrieval</a:t>
            </a:r>
            <a:endParaRPr lang="en-US" sz="1000" dirty="0"/>
          </a:p>
        </p:txBody>
      </p:sp>
      <p:sp>
        <p:nvSpPr>
          <p:cNvPr id="33" name="chip-89"/>
          <p:cNvSpPr/>
          <p:nvPr/>
        </p:nvSpPr>
        <p:spPr>
          <a:xfrm>
            <a:off x="6424574" y="4453128"/>
            <a:ext cx="1344168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chip-text-90"/>
          <p:cNvSpPr txBox="1"/>
          <p:nvPr/>
        </p:nvSpPr>
        <p:spPr>
          <a:xfrm>
            <a:off x="6424574" y="4453128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Interview agent</a:t>
            </a:r>
            <a:endParaRPr lang="en-US" sz="1000" dirty="0"/>
          </a:p>
        </p:txBody>
      </p:sp>
      <p:sp>
        <p:nvSpPr>
          <p:cNvPr id="35" name="chip-91"/>
          <p:cNvSpPr/>
          <p:nvPr/>
        </p:nvSpPr>
        <p:spPr>
          <a:xfrm>
            <a:off x="7841894" y="4453128"/>
            <a:ext cx="844906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chip-text-92"/>
          <p:cNvSpPr txBox="1"/>
          <p:nvPr/>
        </p:nvSpPr>
        <p:spPr>
          <a:xfrm>
            <a:off x="7841894" y="4453128"/>
            <a:ext cx="844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Coaching</a:t>
            </a:r>
            <a:endParaRPr lang="en-US" sz="1000" dirty="0"/>
          </a:p>
        </p:txBody>
      </p:sp>
      <p:sp>
        <p:nvSpPr>
          <p:cNvPr id="37" name="card-93"/>
          <p:cNvSpPr/>
          <p:nvPr/>
        </p:nvSpPr>
        <p:spPr>
          <a:xfrm>
            <a:off x="548640" y="5120640"/>
            <a:ext cx="859536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-94"/>
          <p:cNvSpPr txBox="1"/>
          <p:nvPr/>
        </p:nvSpPr>
        <p:spPr>
          <a:xfrm>
            <a:off x="777240" y="5120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</a:t>
            </a:r>
            <a:endParaRPr lang="en-US" sz="1500" dirty="0"/>
          </a:p>
        </p:txBody>
      </p:sp>
      <p:sp>
        <p:nvSpPr>
          <p:cNvPr id="39" name="text-95"/>
          <p:cNvSpPr txBox="1"/>
          <p:nvPr/>
        </p:nvSpPr>
        <p:spPr>
          <a:xfrm>
            <a:off x="2103120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PostgreSQL + Alembic</a:t>
            </a:r>
            <a:endParaRPr lang="en-US" sz="1200" dirty="0"/>
          </a:p>
        </p:txBody>
      </p:sp>
      <p:sp>
        <p:nvSpPr>
          <p:cNvPr id="40" name="chip-96"/>
          <p:cNvSpPr/>
          <p:nvPr/>
        </p:nvSpPr>
        <p:spPr>
          <a:xfrm>
            <a:off x="4160520" y="5321808"/>
            <a:ext cx="916229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chip-text-97"/>
          <p:cNvSpPr txBox="1"/>
          <p:nvPr/>
        </p:nvSpPr>
        <p:spPr>
          <a:xfrm>
            <a:off x="4160520" y="5321808"/>
            <a:ext cx="9162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11 tables</a:t>
            </a:r>
            <a:endParaRPr lang="en-US" sz="1000" dirty="0"/>
          </a:p>
        </p:txBody>
      </p:sp>
      <p:sp>
        <p:nvSpPr>
          <p:cNvPr id="42" name="chip-98"/>
          <p:cNvSpPr/>
          <p:nvPr/>
        </p:nvSpPr>
        <p:spPr>
          <a:xfrm>
            <a:off x="5149901" y="5321808"/>
            <a:ext cx="1058875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chip-text-99"/>
          <p:cNvSpPr txBox="1"/>
          <p:nvPr/>
        </p:nvSpPr>
        <p:spPr>
          <a:xfrm>
            <a:off x="5149901" y="5321808"/>
            <a:ext cx="10588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Private CVs</a:t>
            </a:r>
            <a:endParaRPr lang="en-US" sz="1000" dirty="0"/>
          </a:p>
        </p:txBody>
      </p:sp>
      <p:sp>
        <p:nvSpPr>
          <p:cNvPr id="44" name="chip-100"/>
          <p:cNvSpPr/>
          <p:nvPr/>
        </p:nvSpPr>
        <p:spPr>
          <a:xfrm>
            <a:off x="6281928" y="5321808"/>
            <a:ext cx="1201522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chip-text-101"/>
          <p:cNvSpPr txBox="1"/>
          <p:nvPr/>
        </p:nvSpPr>
        <p:spPr>
          <a:xfrm>
            <a:off x="6281928" y="5321808"/>
            <a:ext cx="1201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Question bank</a:t>
            </a:r>
            <a:endParaRPr lang="en-US" sz="1000" dirty="0"/>
          </a:p>
        </p:txBody>
      </p:sp>
      <p:sp>
        <p:nvSpPr>
          <p:cNvPr id="46" name="chip-102"/>
          <p:cNvSpPr/>
          <p:nvPr/>
        </p:nvSpPr>
        <p:spPr>
          <a:xfrm>
            <a:off x="7556602" y="5321808"/>
            <a:ext cx="1130198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chip-text-103"/>
          <p:cNvSpPr txBox="1"/>
          <p:nvPr/>
        </p:nvSpPr>
        <p:spPr>
          <a:xfrm>
            <a:off x="7556602" y="5321808"/>
            <a:ext cx="11301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Competencies</a:t>
            </a:r>
            <a:endParaRPr lang="en-US" sz="1000" dirty="0"/>
          </a:p>
        </p:txBody>
      </p:sp>
      <p:sp>
        <p:nvSpPr>
          <p:cNvPr id="48" name="card-104"/>
          <p:cNvSpPr/>
          <p:nvPr/>
        </p:nvSpPr>
        <p:spPr>
          <a:xfrm>
            <a:off x="9326880" y="2514600"/>
            <a:ext cx="228600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llm-box"/>
          <p:cNvSpPr/>
          <p:nvPr/>
        </p:nvSpPr>
        <p:spPr>
          <a:xfrm>
            <a:off x="9326880" y="4343400"/>
            <a:ext cx="228600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9A9AA5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-105"/>
          <p:cNvSpPr txBox="1"/>
          <p:nvPr/>
        </p:nvSpPr>
        <p:spPr>
          <a:xfrm>
            <a:off x="9509760" y="26517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Optional embeddings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Local all-MiniLM-L6-v2; lexical engine by default</a:t>
            </a:r>
            <a:endParaRPr lang="en-US" sz="1400" dirty="0"/>
          </a:p>
        </p:txBody>
      </p:sp>
      <p:sp>
        <p:nvSpPr>
          <p:cNvPr id="51" name="text-106"/>
          <p:cNvSpPr txBox="1"/>
          <p:nvPr/>
        </p:nvSpPr>
        <p:spPr>
          <a:xfrm>
            <a:off x="9509760" y="44805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Optional LLM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Off by default, local first; can only propose</a:t>
            </a:r>
            <a:endParaRPr lang="en-US" sz="14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ANSWER EVALUATION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Six explained dimensions, not one opaque number</a:t>
            </a:r>
            <a:endParaRPr lang="en-US" sz="2800" dirty="0"/>
          </a:p>
        </p:txBody>
      </p:sp>
      <p:sp>
        <p:nvSpPr>
          <p:cNvPr id="4" name="text-107"/>
          <p:cNvSpPr txBox="1"/>
          <p:nvPr/>
        </p:nvSpPr>
        <p:spPr>
          <a:xfrm>
            <a:off x="5486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Weights for a technical question</a:t>
            </a:r>
            <a:endParaRPr lang="en-US" sz="1200" dirty="0"/>
          </a:p>
        </p:txBody>
      </p:sp>
      <p:sp>
        <p:nvSpPr>
          <p:cNvPr id="5" name="text-108"/>
          <p:cNvSpPr txBox="1"/>
          <p:nvPr/>
        </p:nvSpPr>
        <p:spPr>
          <a:xfrm>
            <a:off x="54864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Relevance</a:t>
            </a:r>
            <a:endParaRPr lang="en-US" sz="1400" dirty="0"/>
          </a:p>
        </p:txBody>
      </p:sp>
      <p:sp>
        <p:nvSpPr>
          <p:cNvPr id="6" name="text-109"/>
          <p:cNvSpPr txBox="1"/>
          <p:nvPr/>
        </p:nvSpPr>
        <p:spPr>
          <a:xfrm>
            <a:off x="466344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20%</a:t>
            </a:r>
            <a:endParaRPr lang="en-US" sz="1400" dirty="0"/>
          </a:p>
        </p:txBody>
      </p:sp>
      <p:sp>
        <p:nvSpPr>
          <p:cNvPr id="7" name="track-110"/>
          <p:cNvSpPr/>
          <p:nvPr/>
        </p:nvSpPr>
        <p:spPr>
          <a:xfrm>
            <a:off x="548640" y="3127248"/>
            <a:ext cx="4663440" cy="73152"/>
          </a:xfrm>
          <a:prstGeom prst="roundRect">
            <a:avLst>
              <a:gd name="adj" fmla="val 50000"/>
            </a:avLst>
          </a:prstGeom>
          <a:solidFill>
            <a:srgbClr val="26262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bar-111" descr="/tmp/claude-0/-home-claude/aa785369-967a-5676-bfea-1cdcb377fcf3/scratchpad/ppt/img/grad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27248"/>
            <a:ext cx="3730752" cy="73152"/>
          </a:xfrm>
          <a:prstGeom prst="rect">
            <a:avLst/>
          </a:prstGeom>
        </p:spPr>
      </p:pic>
      <p:sp>
        <p:nvSpPr>
          <p:cNvPr id="9" name="text-112"/>
          <p:cNvSpPr txBox="1"/>
          <p:nvPr/>
        </p:nvSpPr>
        <p:spPr>
          <a:xfrm>
            <a:off x="54864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Key concepts</a:t>
            </a:r>
            <a:endParaRPr lang="en-US" sz="1400" dirty="0"/>
          </a:p>
        </p:txBody>
      </p:sp>
      <p:sp>
        <p:nvSpPr>
          <p:cNvPr id="10" name="text-113"/>
          <p:cNvSpPr txBox="1"/>
          <p:nvPr/>
        </p:nvSpPr>
        <p:spPr>
          <a:xfrm>
            <a:off x="4663440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25%</a:t>
            </a:r>
            <a:endParaRPr lang="en-US" sz="1400" dirty="0"/>
          </a:p>
        </p:txBody>
      </p:sp>
      <p:sp>
        <p:nvSpPr>
          <p:cNvPr id="11" name="track-114"/>
          <p:cNvSpPr/>
          <p:nvPr/>
        </p:nvSpPr>
        <p:spPr>
          <a:xfrm>
            <a:off x="548640" y="3602736"/>
            <a:ext cx="4663440" cy="73152"/>
          </a:xfrm>
          <a:prstGeom prst="roundRect">
            <a:avLst>
              <a:gd name="adj" fmla="val 50000"/>
            </a:avLst>
          </a:prstGeom>
          <a:solidFill>
            <a:srgbClr val="26262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bar-115" descr="/tmp/claude-0/-home-claude/aa785369-967a-5676-bfea-1cdcb377fcf3/scratchpad/ppt/img/grad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02736"/>
            <a:ext cx="4663440" cy="73152"/>
          </a:xfrm>
          <a:prstGeom prst="rect">
            <a:avLst/>
          </a:prstGeom>
        </p:spPr>
      </p:pic>
      <p:sp>
        <p:nvSpPr>
          <p:cNvPr id="13" name="text-116"/>
          <p:cNvSpPr txBox="1"/>
          <p:nvPr/>
        </p:nvSpPr>
        <p:spPr>
          <a:xfrm>
            <a:off x="548640" y="3785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Technical accuracy</a:t>
            </a:r>
            <a:endParaRPr lang="en-US" sz="1400" dirty="0"/>
          </a:p>
        </p:txBody>
      </p:sp>
      <p:sp>
        <p:nvSpPr>
          <p:cNvPr id="14" name="text-117"/>
          <p:cNvSpPr txBox="1"/>
          <p:nvPr/>
        </p:nvSpPr>
        <p:spPr>
          <a:xfrm>
            <a:off x="4663440" y="3785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20%</a:t>
            </a:r>
            <a:endParaRPr lang="en-US" sz="1400" dirty="0"/>
          </a:p>
        </p:txBody>
      </p:sp>
      <p:sp>
        <p:nvSpPr>
          <p:cNvPr id="15" name="track-118"/>
          <p:cNvSpPr/>
          <p:nvPr/>
        </p:nvSpPr>
        <p:spPr>
          <a:xfrm>
            <a:off x="548640" y="4078224"/>
            <a:ext cx="4663440" cy="73152"/>
          </a:xfrm>
          <a:prstGeom prst="roundRect">
            <a:avLst>
              <a:gd name="adj" fmla="val 50000"/>
            </a:avLst>
          </a:prstGeom>
          <a:solidFill>
            <a:srgbClr val="26262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bar-119" descr="/tmp/claude-0/-home-claude/aa785369-967a-5676-bfea-1cdcb377fcf3/scratchpad/ppt/img/grad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78224"/>
            <a:ext cx="3730752" cy="73152"/>
          </a:xfrm>
          <a:prstGeom prst="rect">
            <a:avLst/>
          </a:prstGeom>
        </p:spPr>
      </p:pic>
      <p:sp>
        <p:nvSpPr>
          <p:cNvPr id="17" name="text-120"/>
          <p:cNvSpPr txBox="1"/>
          <p:nvPr/>
        </p:nvSpPr>
        <p:spPr>
          <a:xfrm>
            <a:off x="548640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Structure</a:t>
            </a:r>
            <a:endParaRPr lang="en-US" sz="1400" dirty="0"/>
          </a:p>
        </p:txBody>
      </p:sp>
      <p:sp>
        <p:nvSpPr>
          <p:cNvPr id="18" name="text-121"/>
          <p:cNvSpPr txBox="1"/>
          <p:nvPr/>
        </p:nvSpPr>
        <p:spPr>
          <a:xfrm>
            <a:off x="4663440" y="4261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10%</a:t>
            </a:r>
            <a:endParaRPr lang="en-US" sz="1400" dirty="0"/>
          </a:p>
        </p:txBody>
      </p:sp>
      <p:sp>
        <p:nvSpPr>
          <p:cNvPr id="19" name="track-122"/>
          <p:cNvSpPr/>
          <p:nvPr/>
        </p:nvSpPr>
        <p:spPr>
          <a:xfrm>
            <a:off x="548640" y="4553712"/>
            <a:ext cx="4663440" cy="73152"/>
          </a:xfrm>
          <a:prstGeom prst="roundRect">
            <a:avLst>
              <a:gd name="adj" fmla="val 50000"/>
            </a:avLst>
          </a:prstGeom>
          <a:solidFill>
            <a:srgbClr val="26262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bar-123" descr="/tmp/claude-0/-home-claude/aa785369-967a-5676-bfea-1cdcb377fcf3/scratchpad/ppt/img/grad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53712"/>
            <a:ext cx="1865376" cy="73152"/>
          </a:xfrm>
          <a:prstGeom prst="rect">
            <a:avLst/>
          </a:prstGeom>
        </p:spPr>
      </p:pic>
      <p:sp>
        <p:nvSpPr>
          <p:cNvPr id="21" name="text-124"/>
          <p:cNvSpPr txBox="1"/>
          <p:nvPr/>
        </p:nvSpPr>
        <p:spPr>
          <a:xfrm>
            <a:off x="548640" y="4736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Evidence and examples</a:t>
            </a:r>
            <a:endParaRPr lang="en-US" sz="1400" dirty="0"/>
          </a:p>
        </p:txBody>
      </p:sp>
      <p:sp>
        <p:nvSpPr>
          <p:cNvPr id="22" name="text-125"/>
          <p:cNvSpPr txBox="1"/>
          <p:nvPr/>
        </p:nvSpPr>
        <p:spPr>
          <a:xfrm>
            <a:off x="46634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15%</a:t>
            </a:r>
            <a:endParaRPr lang="en-US" sz="1400" dirty="0"/>
          </a:p>
        </p:txBody>
      </p:sp>
      <p:sp>
        <p:nvSpPr>
          <p:cNvPr id="23" name="track-126"/>
          <p:cNvSpPr/>
          <p:nvPr/>
        </p:nvSpPr>
        <p:spPr>
          <a:xfrm>
            <a:off x="548640" y="5029200"/>
            <a:ext cx="4663440" cy="73152"/>
          </a:xfrm>
          <a:prstGeom prst="roundRect">
            <a:avLst>
              <a:gd name="adj" fmla="val 50000"/>
            </a:avLst>
          </a:prstGeom>
          <a:solidFill>
            <a:srgbClr val="26262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bar-127" descr="/tmp/claude-0/-home-claude/aa785369-967a-5676-bfea-1cdcb377fcf3/scratchpad/ppt/img/grad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0"/>
            <a:ext cx="2798064" cy="73152"/>
          </a:xfrm>
          <a:prstGeom prst="rect">
            <a:avLst/>
          </a:prstGeom>
        </p:spPr>
      </p:pic>
      <p:sp>
        <p:nvSpPr>
          <p:cNvPr id="25" name="text-128"/>
          <p:cNvSpPr txBox="1"/>
          <p:nvPr/>
        </p:nvSpPr>
        <p:spPr>
          <a:xfrm>
            <a:off x="54864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Communication</a:t>
            </a:r>
            <a:endParaRPr lang="en-US" sz="1400" dirty="0"/>
          </a:p>
        </p:txBody>
      </p:sp>
      <p:sp>
        <p:nvSpPr>
          <p:cNvPr id="26" name="text-129"/>
          <p:cNvSpPr txBox="1"/>
          <p:nvPr/>
        </p:nvSpPr>
        <p:spPr>
          <a:xfrm>
            <a:off x="4663440" y="5212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10%</a:t>
            </a:r>
            <a:endParaRPr lang="en-US" sz="1400" dirty="0"/>
          </a:p>
        </p:txBody>
      </p:sp>
      <p:sp>
        <p:nvSpPr>
          <p:cNvPr id="27" name="track-130"/>
          <p:cNvSpPr/>
          <p:nvPr/>
        </p:nvSpPr>
        <p:spPr>
          <a:xfrm>
            <a:off x="548640" y="5504688"/>
            <a:ext cx="4663440" cy="73152"/>
          </a:xfrm>
          <a:prstGeom prst="roundRect">
            <a:avLst>
              <a:gd name="adj" fmla="val 50000"/>
            </a:avLst>
          </a:prstGeom>
          <a:solidFill>
            <a:srgbClr val="26262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bar-131" descr="/tmp/claude-0/-home-claude/aa785369-967a-5676-bfea-1cdcb377fcf3/scratchpad/ppt/img/grad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04688"/>
            <a:ext cx="1865376" cy="73152"/>
          </a:xfrm>
          <a:prstGeom prst="rect">
            <a:avLst/>
          </a:prstGeom>
        </p:spPr>
      </p:pic>
      <p:sp>
        <p:nvSpPr>
          <p:cNvPr id="29" name="text-132"/>
          <p:cNvSpPr txBox="1"/>
          <p:nvPr/>
        </p:nvSpPr>
        <p:spPr>
          <a:xfrm>
            <a:off x="548640" y="5715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Similarity is only supporting evidence: accuracy is 0 when no rubric concept is covered, so matching words alone cannot score high.</a:t>
            </a:r>
            <a:endParaRPr lang="en-US" sz="1200" dirty="0"/>
          </a:p>
        </p:txBody>
      </p:sp>
      <p:sp>
        <p:nvSpPr>
          <p:cNvPr id="30" name="card-133"/>
          <p:cNvSpPr/>
          <p:nvPr/>
        </p:nvSpPr>
        <p:spPr>
          <a:xfrm>
            <a:off x="5705856" y="2459736"/>
            <a:ext cx="5934456" cy="3767328"/>
          </a:xfrm>
          <a:prstGeom prst="roundRect">
            <a:avLst>
              <a:gd name="adj" fmla="val 3398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shot-134" descr="Feedback for one answer: score ring 58 of 100, agent follow-up decision and six dimension ba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0720" y="2514600"/>
            <a:ext cx="5824728" cy="3657600"/>
          </a:xfrm>
          <a:prstGeom prst="rect">
            <a:avLst/>
          </a:prstGeom>
        </p:spPr>
      </p:pic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EVIDENCE AND THE INTERVIEW AGENT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Feedback quotes the answer; follow-ups are policy-checked</a:t>
            </a:r>
            <a:endParaRPr lang="en-US" sz="2800" dirty="0"/>
          </a:p>
        </p:txBody>
      </p:sp>
      <p:sp>
        <p:nvSpPr>
          <p:cNvPr id="4" name="card-135"/>
          <p:cNvSpPr/>
          <p:nvPr/>
        </p:nvSpPr>
        <p:spPr>
          <a:xfrm>
            <a:off x="548640" y="2459736"/>
            <a:ext cx="5596128" cy="1819656"/>
          </a:xfrm>
          <a:prstGeom prst="roundRect">
            <a:avLst>
              <a:gd name="adj" fmla="val 7035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shot-136" descr="Evidence behind the scores: each rubric concept marked explained, partly explained or not found, with quot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" y="2514600"/>
            <a:ext cx="5486400" cy="1709928"/>
          </a:xfrm>
          <a:prstGeom prst="rect">
            <a:avLst/>
          </a:prstGeom>
        </p:spPr>
      </p:pic>
      <p:sp>
        <p:nvSpPr>
          <p:cNvPr id="6" name="text-137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Five agent actions</a:t>
            </a:r>
            <a:endParaRPr lang="en-US" sz="1200" dirty="0"/>
          </a:p>
        </p:txBody>
      </p:sp>
      <p:sp>
        <p:nvSpPr>
          <p:cNvPr id="7" name="chip-138"/>
          <p:cNvSpPr/>
          <p:nvPr/>
        </p:nvSpPr>
        <p:spPr>
          <a:xfrm>
            <a:off x="548640" y="4937760"/>
            <a:ext cx="901964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chip-text-139"/>
          <p:cNvSpPr txBox="1"/>
          <p:nvPr/>
        </p:nvSpPr>
        <p:spPr>
          <a:xfrm>
            <a:off x="548640" y="4937760"/>
            <a:ext cx="9019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continue</a:t>
            </a:r>
            <a:endParaRPr lang="en-US" sz="1100" dirty="0"/>
          </a:p>
        </p:txBody>
      </p:sp>
      <p:sp>
        <p:nvSpPr>
          <p:cNvPr id="9" name="chip-140"/>
          <p:cNvSpPr/>
          <p:nvPr/>
        </p:nvSpPr>
        <p:spPr>
          <a:xfrm>
            <a:off x="1542044" y="4937760"/>
            <a:ext cx="823509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chip-text-141"/>
          <p:cNvSpPr txBox="1"/>
          <p:nvPr/>
        </p:nvSpPr>
        <p:spPr>
          <a:xfrm>
            <a:off x="1542044" y="4937760"/>
            <a:ext cx="8235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clarify</a:t>
            </a:r>
            <a:endParaRPr lang="en-US" sz="1100" dirty="0"/>
          </a:p>
        </p:txBody>
      </p:sp>
      <p:sp>
        <p:nvSpPr>
          <p:cNvPr id="11" name="chip-142"/>
          <p:cNvSpPr/>
          <p:nvPr/>
        </p:nvSpPr>
        <p:spPr>
          <a:xfrm>
            <a:off x="2456993" y="4937760"/>
            <a:ext cx="1451153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chip-text-143"/>
          <p:cNvSpPr txBox="1"/>
          <p:nvPr/>
        </p:nvSpPr>
        <p:spPr>
          <a:xfrm>
            <a:off x="2456993" y="4937760"/>
            <a:ext cx="14511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request example</a:t>
            </a:r>
            <a:endParaRPr lang="en-US" sz="1100" dirty="0"/>
          </a:p>
        </p:txBody>
      </p:sp>
      <p:sp>
        <p:nvSpPr>
          <p:cNvPr id="13" name="chip-144"/>
          <p:cNvSpPr/>
          <p:nvPr/>
        </p:nvSpPr>
        <p:spPr>
          <a:xfrm>
            <a:off x="3999586" y="4937760"/>
            <a:ext cx="1294242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chip-text-145"/>
          <p:cNvSpPr txBox="1"/>
          <p:nvPr/>
        </p:nvSpPr>
        <p:spPr>
          <a:xfrm>
            <a:off x="3999586" y="4937760"/>
            <a:ext cx="12942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probe concept</a:t>
            </a:r>
            <a:endParaRPr lang="en-US" sz="1100" dirty="0"/>
          </a:p>
        </p:txBody>
      </p:sp>
      <p:sp>
        <p:nvSpPr>
          <p:cNvPr id="15" name="chip-146"/>
          <p:cNvSpPr/>
          <p:nvPr/>
        </p:nvSpPr>
        <p:spPr>
          <a:xfrm>
            <a:off x="5385267" y="4937760"/>
            <a:ext cx="745053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chip-text-147"/>
          <p:cNvSpPr txBox="1"/>
          <p:nvPr/>
        </p:nvSpPr>
        <p:spPr>
          <a:xfrm>
            <a:off x="5385267" y="4937760"/>
            <a:ext cx="7450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deepen</a:t>
            </a:r>
            <a:endParaRPr lang="en-US" sz="1100" dirty="0"/>
          </a:p>
        </p:txBody>
      </p:sp>
      <p:sp>
        <p:nvSpPr>
          <p:cNvPr id="17" name="text-148"/>
          <p:cNvSpPr txBox="1"/>
          <p:nvPr/>
        </p:nvSpPr>
        <p:spPr>
          <a:xfrm>
            <a:off x="548640" y="54864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An optional LLM may only propose; rules decide if a proposal breaks a limit, leaves the rubric or goes off topic.</a:t>
            </a:r>
            <a:endParaRPr lang="en-US" sz="1300" dirty="0"/>
          </a:p>
        </p:txBody>
      </p:sp>
      <p:sp>
        <p:nvSpPr>
          <p:cNvPr id="18" name="card-149"/>
          <p:cNvSpPr/>
          <p:nvPr/>
        </p:nvSpPr>
        <p:spPr>
          <a:xfrm>
            <a:off x="6675120" y="2514600"/>
            <a:ext cx="4937760" cy="169164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-150"/>
          <p:cNvSpPr txBox="1"/>
          <p:nvPr/>
        </p:nvSpPr>
        <p:spPr>
          <a:xfrm>
            <a:off x="6949440" y="2697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98.6%</a:t>
            </a:r>
            <a:endParaRPr lang="en-US" sz="4800" dirty="0"/>
          </a:p>
        </p:txBody>
      </p:sp>
      <p:sp>
        <p:nvSpPr>
          <p:cNvPr id="20" name="text-151"/>
          <p:cNvSpPr txBox="1"/>
          <p:nvPr/>
        </p:nvSpPr>
        <p:spPr>
          <a:xfrm>
            <a:off x="9281160" y="2834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appropriate follow-up decisions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was 87.7%</a:t>
            </a:r>
            <a:endParaRPr lang="en-US" sz="1400" dirty="0"/>
          </a:p>
        </p:txBody>
      </p:sp>
      <p:sp>
        <p:nvSpPr>
          <p:cNvPr id="21" name="card-152"/>
          <p:cNvSpPr/>
          <p:nvPr/>
        </p:nvSpPr>
        <p:spPr>
          <a:xfrm>
            <a:off x="6675120" y="4389120"/>
            <a:ext cx="4937760" cy="169164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-153"/>
          <p:cNvSpPr txBox="1"/>
          <p:nvPr/>
        </p:nvSpPr>
        <p:spPr>
          <a:xfrm>
            <a:off x="6949440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100%</a:t>
            </a:r>
            <a:endParaRPr lang="en-US" sz="4800" dirty="0"/>
          </a:p>
        </p:txBody>
      </p:sp>
      <p:sp>
        <p:nvSpPr>
          <p:cNvPr id="23" name="text-154"/>
          <p:cNvSpPr txBox="1"/>
          <p:nvPr/>
        </p:nvSpPr>
        <p:spPr>
          <a:xfrm>
            <a:off x="9281160" y="4709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fallback to rules when the LLM fails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timeouts, invalid or off-topic output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PERSONALISATION AND COACHING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Questions fit the person; the plan follows the evidence</a:t>
            </a:r>
            <a:endParaRPr lang="en-US" sz="2800" dirty="0"/>
          </a:p>
        </p:txBody>
      </p:sp>
      <p:sp>
        <p:nvSpPr>
          <p:cNvPr id="4" name="card-155"/>
          <p:cNvSpPr/>
          <p:nvPr/>
        </p:nvSpPr>
        <p:spPr>
          <a:xfrm>
            <a:off x="548640" y="2514600"/>
            <a:ext cx="5669280" cy="1417320"/>
          </a:xfrm>
          <a:prstGeom prst="roundRect">
            <a:avLst>
              <a:gd name="adj" fmla="val 9032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-156"/>
          <p:cNvSpPr txBox="1"/>
          <p:nvPr/>
        </p:nvSpPr>
        <p:spPr>
          <a:xfrm>
            <a:off x="822960" y="2651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0.856</a:t>
            </a:r>
            <a:endParaRPr lang="en-US" sz="4400" dirty="0"/>
          </a:p>
        </p:txBody>
      </p:sp>
      <p:sp>
        <p:nvSpPr>
          <p:cNvPr id="6" name="text-157"/>
          <p:cNvSpPr txBox="1"/>
          <p:nvPr/>
        </p:nvSpPr>
        <p:spPr>
          <a:xfrm>
            <a:off x="329184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required-skill coverage per interview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was 0.667</a:t>
            </a:r>
            <a:endParaRPr lang="en-US" sz="1400" dirty="0"/>
          </a:p>
        </p:txBody>
      </p:sp>
      <p:sp>
        <p:nvSpPr>
          <p:cNvPr id="7" name="card-158"/>
          <p:cNvSpPr/>
          <p:nvPr/>
        </p:nvSpPr>
        <p:spPr>
          <a:xfrm>
            <a:off x="548640" y="4114800"/>
            <a:ext cx="5669280" cy="1417320"/>
          </a:xfrm>
          <a:prstGeom prst="roundRect">
            <a:avLst>
              <a:gd name="adj" fmla="val 9032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-159"/>
          <p:cNvSpPr txBox="1"/>
          <p:nvPr/>
        </p:nvSpPr>
        <p:spPr>
          <a:xfrm>
            <a:off x="822960" y="4251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21.4%</a:t>
            </a:r>
            <a:endParaRPr lang="en-US" sz="4400" dirty="0"/>
          </a:p>
        </p:txBody>
      </p:sp>
      <p:sp>
        <p:nvSpPr>
          <p:cNvPr id="9" name="text-160"/>
          <p:cNvSpPr txBox="1"/>
          <p:nvPr/>
        </p:nvSpPr>
        <p:spPr>
          <a:xfrm>
            <a:off x="3291840" y="4434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questions repeated in the next interview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was 76.4%</a:t>
            </a:r>
            <a:endParaRPr lang="en-US" sz="1400" dirty="0"/>
          </a:p>
        </p:txBody>
      </p:sp>
      <p:pic>
        <p:nvPicPr>
          <p:cNvPr id="10" name="plan-che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788152"/>
            <a:ext cx="274320" cy="274320"/>
          </a:xfrm>
          <a:prstGeom prst="rect">
            <a:avLst/>
          </a:prstGeom>
        </p:spPr>
      </p:pic>
      <p:sp>
        <p:nvSpPr>
          <p:cNvPr id="11" name="text-161"/>
          <p:cNvSpPr txBox="1"/>
          <p:nvPr/>
        </p:nvSpPr>
        <p:spPr>
          <a:xfrm>
            <a:off x="960120" y="5760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 skill gap needs two weak answers; one weak answer is “needs more evidence”.</a:t>
            </a:r>
            <a:endParaRPr lang="en-US" sz="1300" dirty="0"/>
          </a:p>
        </p:txBody>
      </p:sp>
      <p:sp>
        <p:nvSpPr>
          <p:cNvPr id="12" name="card-162"/>
          <p:cNvSpPr/>
          <p:nvPr/>
        </p:nvSpPr>
        <p:spPr>
          <a:xfrm>
            <a:off x="6848856" y="2459736"/>
            <a:ext cx="3950208" cy="3739896"/>
          </a:xfrm>
          <a:prstGeom prst="roundRect">
            <a:avLst>
              <a:gd name="adj" fmla="val 3423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shot-163" descr="Improvement plan in dark mode with strengths, gaps and a competency tab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03720" y="2514600"/>
            <a:ext cx="3840480" cy="36301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SECURITY AND PRIVACY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A CV is personal data: it stays in its owner’s account</a:t>
            </a:r>
            <a:endParaRPr lang="en-US" sz="2800" dirty="0"/>
          </a:p>
        </p:txBody>
      </p:sp>
      <p:sp>
        <p:nvSpPr>
          <p:cNvPr id="4" name="card-164"/>
          <p:cNvSpPr/>
          <p:nvPr/>
        </p:nvSpPr>
        <p:spPr>
          <a:xfrm>
            <a:off x="548640" y="2560320"/>
            <a:ext cx="544068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icon-bg-165"/>
          <p:cNvSpPr/>
          <p:nvPr/>
        </p:nvSpPr>
        <p:spPr>
          <a:xfrm>
            <a:off x="822960" y="2971800"/>
            <a:ext cx="731520" cy="731520"/>
          </a:xfrm>
          <a:prstGeom prst="ellipse">
            <a:avLst/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con-16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54680"/>
            <a:ext cx="365760" cy="365760"/>
          </a:xfrm>
          <a:prstGeom prst="rect">
            <a:avLst/>
          </a:prstGeom>
        </p:spPr>
      </p:pic>
      <p:sp>
        <p:nvSpPr>
          <p:cNvPr id="7" name="text-167"/>
          <p:cNvSpPr txBox="1"/>
          <p:nvPr/>
        </p:nvSpPr>
        <p:spPr>
          <a:xfrm>
            <a:off x="1783080" y="2834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Accounts and sessions</a:t>
            </a:r>
            <a:endParaRPr lang="en-US" sz="1700" dirty="0"/>
          </a:p>
        </p:txBody>
      </p:sp>
      <p:sp>
        <p:nvSpPr>
          <p:cNvPr id="8" name="text-168"/>
          <p:cNvSpPr txBox="1"/>
          <p:nvPr/>
        </p:nvSpPr>
        <p:spPr>
          <a:xfrm>
            <a:off x="1783080" y="32461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scrypt passwords, 15-minute tokens, rotating HttpOnly refresh cookie with theft detection</a:t>
            </a:r>
            <a:endParaRPr lang="en-US" sz="1400" dirty="0"/>
          </a:p>
        </p:txBody>
      </p:sp>
      <p:sp>
        <p:nvSpPr>
          <p:cNvPr id="9" name="card-169"/>
          <p:cNvSpPr/>
          <p:nvPr/>
        </p:nvSpPr>
        <p:spPr>
          <a:xfrm>
            <a:off x="6172200" y="2560320"/>
            <a:ext cx="544068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con-bg-170"/>
          <p:cNvSpPr/>
          <p:nvPr/>
        </p:nvSpPr>
        <p:spPr>
          <a:xfrm>
            <a:off x="6446520" y="2971800"/>
            <a:ext cx="731520" cy="731520"/>
          </a:xfrm>
          <a:prstGeom prst="ellipse">
            <a:avLst/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con-17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154680"/>
            <a:ext cx="365760" cy="365760"/>
          </a:xfrm>
          <a:prstGeom prst="rect">
            <a:avLst/>
          </a:prstGeom>
        </p:spPr>
      </p:pic>
      <p:sp>
        <p:nvSpPr>
          <p:cNvPr id="12" name="text-172"/>
          <p:cNvSpPr txBox="1"/>
          <p:nvPr/>
        </p:nvSpPr>
        <p:spPr>
          <a:xfrm>
            <a:off x="7406640" y="2834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Per-user isolation</a:t>
            </a:r>
            <a:endParaRPr lang="en-US" sz="1700" dirty="0"/>
          </a:p>
        </p:txBody>
      </p:sp>
      <p:sp>
        <p:nvSpPr>
          <p:cNvPr id="13" name="text-173"/>
          <p:cNvSpPr txBox="1"/>
          <p:nvPr/>
        </p:nvSpPr>
        <p:spPr>
          <a:xfrm>
            <a:off x="7406640" y="32461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Every query is scoped to the signed-in user; other users’ data returns 404</a:t>
            </a:r>
            <a:endParaRPr lang="en-US" sz="1400" dirty="0"/>
          </a:p>
        </p:txBody>
      </p:sp>
      <p:sp>
        <p:nvSpPr>
          <p:cNvPr id="14" name="card-174"/>
          <p:cNvSpPr/>
          <p:nvPr/>
        </p:nvSpPr>
        <p:spPr>
          <a:xfrm>
            <a:off x="548640" y="4343400"/>
            <a:ext cx="544068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icon-bg-175"/>
          <p:cNvSpPr/>
          <p:nvPr/>
        </p:nvSpPr>
        <p:spPr>
          <a:xfrm>
            <a:off x="822960" y="4754880"/>
            <a:ext cx="731520" cy="731520"/>
          </a:xfrm>
          <a:prstGeom prst="ellipse">
            <a:avLst/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con-17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37760"/>
            <a:ext cx="365760" cy="365760"/>
          </a:xfrm>
          <a:prstGeom prst="rect">
            <a:avLst/>
          </a:prstGeom>
        </p:spPr>
      </p:pic>
      <p:sp>
        <p:nvSpPr>
          <p:cNvPr id="17" name="text-177"/>
          <p:cNvSpPr txBox="1"/>
          <p:nvPr/>
        </p:nvSpPr>
        <p:spPr>
          <a:xfrm>
            <a:off x="178308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Private CV files</a:t>
            </a:r>
            <a:endParaRPr lang="en-US" sz="1700" dirty="0"/>
          </a:p>
        </p:txBody>
      </p:sp>
      <p:sp>
        <p:nvSpPr>
          <p:cNvPr id="18" name="text-178"/>
          <p:cNvSpPr txBox="1"/>
          <p:nvPr/>
        </p:nvSpPr>
        <p:spPr>
          <a:xfrm>
            <a:off x="1783080" y="50292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Type checked by content, stored under random names, never served</a:t>
            </a:r>
            <a:endParaRPr lang="en-US" sz="1400" dirty="0"/>
          </a:p>
        </p:txBody>
      </p:sp>
      <p:sp>
        <p:nvSpPr>
          <p:cNvPr id="19" name="card-179"/>
          <p:cNvSpPr/>
          <p:nvPr/>
        </p:nvSpPr>
        <p:spPr>
          <a:xfrm>
            <a:off x="6172200" y="4343400"/>
            <a:ext cx="544068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con-bg-180"/>
          <p:cNvSpPr/>
          <p:nvPr/>
        </p:nvSpPr>
        <p:spPr>
          <a:xfrm>
            <a:off x="6446520" y="4754880"/>
            <a:ext cx="731520" cy="731520"/>
          </a:xfrm>
          <a:prstGeom prst="ellipse">
            <a:avLst/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con-18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937760"/>
            <a:ext cx="365760" cy="365760"/>
          </a:xfrm>
          <a:prstGeom prst="rect">
            <a:avLst/>
          </a:prstGeom>
        </p:spPr>
      </p:pic>
      <p:sp>
        <p:nvSpPr>
          <p:cNvPr id="22" name="text-182"/>
          <p:cNvSpPr txBox="1"/>
          <p:nvPr/>
        </p:nvSpPr>
        <p:spPr>
          <a:xfrm>
            <a:off x="740664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CV text to AI services</a:t>
            </a:r>
            <a:endParaRPr lang="en-US" sz="1700" dirty="0"/>
          </a:p>
        </p:txBody>
      </p:sp>
      <p:sp>
        <p:nvSpPr>
          <p:cNvPr id="23" name="text-183"/>
          <p:cNvSpPr txBox="1"/>
          <p:nvPr/>
        </p:nvSpPr>
        <p:spPr>
          <a:xfrm>
            <a:off x="7406640" y="50292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optional LLM is off and local-first; contact details are removed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QUALITY AND TESTING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Tested at every layer, honest about the gaps</a:t>
            </a:r>
            <a:endParaRPr lang="en-US" sz="2800" dirty="0"/>
          </a:p>
        </p:txBody>
      </p:sp>
      <p:sp>
        <p:nvSpPr>
          <p:cNvPr id="4" name="card-184"/>
          <p:cNvSpPr/>
          <p:nvPr/>
        </p:nvSpPr>
        <p:spPr>
          <a:xfrm>
            <a:off x="548640" y="2514600"/>
            <a:ext cx="3931920" cy="1024128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-185"/>
          <p:cNvSpPr txBox="1"/>
          <p:nvPr/>
        </p:nvSpPr>
        <p:spPr>
          <a:xfrm>
            <a:off x="777240" y="2514600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272</a:t>
            </a:r>
            <a:endParaRPr lang="en-US" sz="3000" dirty="0"/>
          </a:p>
        </p:txBody>
      </p:sp>
      <p:sp>
        <p:nvSpPr>
          <p:cNvPr id="6" name="text-186"/>
          <p:cNvSpPr txBox="1"/>
          <p:nvPr/>
        </p:nvSpPr>
        <p:spPr>
          <a:xfrm>
            <a:off x="2514600" y="2514600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automated tests passing</a:t>
            </a:r>
            <a:endParaRPr lang="en-US" sz="1300" dirty="0"/>
          </a:p>
        </p:txBody>
      </p:sp>
      <p:sp>
        <p:nvSpPr>
          <p:cNvPr id="7" name="card-187"/>
          <p:cNvSpPr/>
          <p:nvPr/>
        </p:nvSpPr>
        <p:spPr>
          <a:xfrm>
            <a:off x="548640" y="3703320"/>
            <a:ext cx="3931920" cy="1024128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-188"/>
          <p:cNvSpPr txBox="1"/>
          <p:nvPr/>
        </p:nvSpPr>
        <p:spPr>
          <a:xfrm>
            <a:off x="777240" y="3703320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34/34</a:t>
            </a:r>
            <a:endParaRPr lang="en-US" sz="3000" dirty="0"/>
          </a:p>
        </p:txBody>
      </p:sp>
      <p:sp>
        <p:nvSpPr>
          <p:cNvPr id="9" name="text-189"/>
          <p:cNvSpPr txBox="1"/>
          <p:nvPr/>
        </p:nvSpPr>
        <p:spPr>
          <a:xfrm>
            <a:off x="2514600" y="3703320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browser checks, two users</a:t>
            </a:r>
            <a:endParaRPr lang="en-US" sz="1300" dirty="0"/>
          </a:p>
        </p:txBody>
      </p:sp>
      <p:sp>
        <p:nvSpPr>
          <p:cNvPr id="10" name="card-190"/>
          <p:cNvSpPr/>
          <p:nvPr/>
        </p:nvSpPr>
        <p:spPr>
          <a:xfrm>
            <a:off x="548640" y="4892040"/>
            <a:ext cx="3931920" cy="1024128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-191"/>
          <p:cNvSpPr txBox="1"/>
          <p:nvPr/>
        </p:nvSpPr>
        <p:spPr>
          <a:xfrm>
            <a:off x="777240" y="4892040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8 of 10</a:t>
            </a:r>
            <a:endParaRPr lang="en-US" sz="3000" dirty="0"/>
          </a:p>
        </p:txBody>
      </p:sp>
      <p:sp>
        <p:nvSpPr>
          <p:cNvPr id="12" name="text-192"/>
          <p:cNvSpPr txBox="1"/>
          <p:nvPr/>
        </p:nvSpPr>
        <p:spPr>
          <a:xfrm>
            <a:off x="2514600" y="4892040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logged bugs fixed with a test</a:t>
            </a:r>
            <a:endParaRPr lang="en-US" sz="1300" dirty="0"/>
          </a:p>
        </p:txBody>
      </p:sp>
      <p:graphicFrame>
        <p:nvGraphicFramePr>
          <p:cNvPr id="13" name="benchmark-chart"/>
          <p:cNvGraphicFramePr/>
          <p:nvPr/>
        </p:nvGraphicFramePr>
        <p:xfrm>
          <a:off x="4846320" y="2423160"/>
          <a:ext cx="67665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4" name="limits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5925312"/>
            <a:ext cx="237744" cy="237744"/>
          </a:xfrm>
          <a:prstGeom prst="rect">
            <a:avLst/>
          </a:prstGeom>
        </p:spPr>
      </p:pic>
      <p:sp>
        <p:nvSpPr>
          <p:cNvPr id="15" name="text-193"/>
          <p:cNvSpPr txBox="1"/>
          <p:nvPr/>
        </p:nvSpPr>
        <p:spPr>
          <a:xfrm>
            <a:off x="5257800" y="58795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Not yet measured: correlation with human raters, load, availability, line coverage.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CHALLENGES AND DECISIONS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Constraints that shaped the design</a:t>
            </a:r>
            <a:endParaRPr lang="en-US" sz="2800" dirty="0"/>
          </a:p>
        </p:txBody>
      </p:sp>
      <p:sp>
        <p:nvSpPr>
          <p:cNvPr id="4" name="card-194"/>
          <p:cNvSpPr/>
          <p:nvPr/>
        </p:nvSpPr>
        <p:spPr>
          <a:xfrm>
            <a:off x="548640" y="2487168"/>
            <a:ext cx="11064240" cy="621792"/>
          </a:xfrm>
          <a:prstGeom prst="roundRect">
            <a:avLst>
              <a:gd name="adj" fmla="val 20588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-195"/>
          <p:cNvSpPr txBox="1"/>
          <p:nvPr/>
        </p:nvSpPr>
        <p:spPr>
          <a:xfrm>
            <a:off x="822960" y="24871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paid or external AI in the MVP</a:t>
            </a:r>
            <a:endParaRPr lang="en-US" sz="1500" dirty="0"/>
          </a:p>
        </p:txBody>
      </p:sp>
      <p:pic>
        <p:nvPicPr>
          <p:cNvPr id="6" name="arrow-19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697480"/>
            <a:ext cx="201168" cy="201168"/>
          </a:xfrm>
          <a:prstGeom prst="rect">
            <a:avLst/>
          </a:prstGeom>
        </p:spPr>
      </p:pic>
      <p:sp>
        <p:nvSpPr>
          <p:cNvPr id="7" name="text-197"/>
          <p:cNvSpPr txBox="1"/>
          <p:nvPr/>
        </p:nvSpPr>
        <p:spPr>
          <a:xfrm>
            <a:off x="5166360" y="2487168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Curated question bank and explainable rules; optional local LLM, off by default</a:t>
            </a:r>
            <a:endParaRPr lang="en-US" sz="1400" dirty="0"/>
          </a:p>
        </p:txBody>
      </p:sp>
      <p:sp>
        <p:nvSpPr>
          <p:cNvPr id="8" name="card-198"/>
          <p:cNvSpPr/>
          <p:nvPr/>
        </p:nvSpPr>
        <p:spPr>
          <a:xfrm>
            <a:off x="548640" y="3218688"/>
            <a:ext cx="11064240" cy="621792"/>
          </a:xfrm>
          <a:prstGeom prst="roundRect">
            <a:avLst>
              <a:gd name="adj" fmla="val 20588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-199"/>
          <p:cNvSpPr txBox="1"/>
          <p:nvPr/>
        </p:nvSpPr>
        <p:spPr>
          <a:xfrm>
            <a:off x="822960" y="32186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Scores must be trustworthy</a:t>
            </a:r>
            <a:endParaRPr lang="en-US" sz="1500" dirty="0"/>
          </a:p>
        </p:txBody>
      </p:sp>
      <p:pic>
        <p:nvPicPr>
          <p:cNvPr id="10" name="arrow-20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429000"/>
            <a:ext cx="201168" cy="201168"/>
          </a:xfrm>
          <a:prstGeom prst="rect">
            <a:avLst/>
          </a:prstGeom>
        </p:spPr>
      </p:pic>
      <p:sp>
        <p:nvSpPr>
          <p:cNvPr id="11" name="text-201"/>
          <p:cNvSpPr txBox="1"/>
          <p:nvPr/>
        </p:nvSpPr>
        <p:spPr>
          <a:xfrm>
            <a:off x="5166360" y="3218688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Rubric with quoted concept evidence; similarity only as support</a:t>
            </a:r>
            <a:endParaRPr lang="en-US" sz="1400" dirty="0"/>
          </a:p>
        </p:txBody>
      </p:sp>
      <p:sp>
        <p:nvSpPr>
          <p:cNvPr id="12" name="card-202"/>
          <p:cNvSpPr/>
          <p:nvPr/>
        </p:nvSpPr>
        <p:spPr>
          <a:xfrm>
            <a:off x="548640" y="3950208"/>
            <a:ext cx="11064240" cy="621792"/>
          </a:xfrm>
          <a:prstGeom prst="roundRect">
            <a:avLst>
              <a:gd name="adj" fmla="val 20588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-203"/>
          <p:cNvSpPr txBox="1"/>
          <p:nvPr/>
        </p:nvSpPr>
        <p:spPr>
          <a:xfrm>
            <a:off x="822960" y="39502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AWS access unconfirmed</a:t>
            </a:r>
            <a:endParaRPr lang="en-US" sz="1500" dirty="0"/>
          </a:p>
        </p:txBody>
      </p:sp>
      <p:pic>
        <p:nvPicPr>
          <p:cNvPr id="14" name="arrow-20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60520"/>
            <a:ext cx="201168" cy="201168"/>
          </a:xfrm>
          <a:prstGeom prst="rect">
            <a:avLst/>
          </a:prstGeom>
        </p:spPr>
      </p:pic>
      <p:sp>
        <p:nvSpPr>
          <p:cNvPr id="15" name="text-205"/>
          <p:cNvSpPr txBox="1"/>
          <p:nvPr/>
        </p:nvSpPr>
        <p:spPr>
          <a:xfrm>
            <a:off x="5166360" y="3950208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One Docker image; a free Azure for Students path prepared</a:t>
            </a:r>
            <a:endParaRPr lang="en-US" sz="1400" dirty="0"/>
          </a:p>
        </p:txBody>
      </p:sp>
      <p:sp>
        <p:nvSpPr>
          <p:cNvPr id="16" name="card-206"/>
          <p:cNvSpPr/>
          <p:nvPr/>
        </p:nvSpPr>
        <p:spPr>
          <a:xfrm>
            <a:off x="548640" y="4681728"/>
            <a:ext cx="11064240" cy="621792"/>
          </a:xfrm>
          <a:prstGeom prst="roundRect">
            <a:avLst>
              <a:gd name="adj" fmla="val 20588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-207"/>
          <p:cNvSpPr txBox="1"/>
          <p:nvPr/>
        </p:nvSpPr>
        <p:spPr>
          <a:xfrm>
            <a:off x="822960" y="46817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Hosting attempts failed</a:t>
            </a:r>
            <a:endParaRPr lang="en-US" sz="1500" dirty="0"/>
          </a:p>
        </p:txBody>
      </p:sp>
      <p:pic>
        <p:nvPicPr>
          <p:cNvPr id="18" name="arrow-20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892040"/>
            <a:ext cx="201168" cy="201168"/>
          </a:xfrm>
          <a:prstGeom prst="rect">
            <a:avLst/>
          </a:prstGeom>
        </p:spPr>
      </p:pic>
      <p:sp>
        <p:nvSpPr>
          <p:cNvPr id="19" name="text-209"/>
          <p:cNvSpPr txBox="1"/>
          <p:nvPr/>
        </p:nvSpPr>
        <p:spPr>
          <a:xfrm>
            <a:off x="5166360" y="4681728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Fixed the host setting behind “Invalid host header”; Render and Hugging Face needed paid plans</a:t>
            </a:r>
            <a:endParaRPr lang="en-US" sz="1400" dirty="0"/>
          </a:p>
        </p:txBody>
      </p:sp>
      <p:sp>
        <p:nvSpPr>
          <p:cNvPr id="20" name="card-210"/>
          <p:cNvSpPr/>
          <p:nvPr/>
        </p:nvSpPr>
        <p:spPr>
          <a:xfrm>
            <a:off x="548640" y="5413248"/>
            <a:ext cx="11064240" cy="621792"/>
          </a:xfrm>
          <a:prstGeom prst="roundRect">
            <a:avLst>
              <a:gd name="adj" fmla="val 20588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-211"/>
          <p:cNvSpPr txBox="1"/>
          <p:nvPr/>
        </p:nvSpPr>
        <p:spPr>
          <a:xfrm>
            <a:off x="822960" y="541324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Private CVs from day one</a:t>
            </a:r>
            <a:endParaRPr lang="en-US" sz="1500" dirty="0"/>
          </a:p>
        </p:txBody>
      </p:sp>
      <p:pic>
        <p:nvPicPr>
          <p:cNvPr id="22" name="arrow-2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5623560"/>
            <a:ext cx="201168" cy="201168"/>
          </a:xfrm>
          <a:prstGeom prst="rect">
            <a:avLst/>
          </a:prstGeom>
        </p:spPr>
      </p:pic>
      <p:sp>
        <p:nvSpPr>
          <p:cNvPr id="23" name="text-213"/>
          <p:cNvSpPr txBox="1"/>
          <p:nvPr/>
        </p:nvSpPr>
        <p:spPr>
          <a:xfrm>
            <a:off x="5166360" y="5413248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Accounts and per-user isolation built before any deployment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PLANNED VERSUS DELIVERED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Objectives O1 to O6</a:t>
            </a:r>
            <a:endParaRPr lang="en-US" sz="2800" dirty="0"/>
          </a:p>
        </p:txBody>
      </p:sp>
      <p:sp>
        <p:nvSpPr>
          <p:cNvPr id="4" name="card-214"/>
          <p:cNvSpPr/>
          <p:nvPr/>
        </p:nvSpPr>
        <p:spPr>
          <a:xfrm>
            <a:off x="548640" y="2450592"/>
            <a:ext cx="11064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-215"/>
          <p:cNvSpPr txBox="1"/>
          <p:nvPr/>
        </p:nvSpPr>
        <p:spPr>
          <a:xfrm>
            <a:off x="822960" y="245059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O1  End-to-end platform</a:t>
            </a:r>
            <a:endParaRPr lang="en-US" sz="1500" dirty="0"/>
          </a:p>
        </p:txBody>
      </p:sp>
      <p:sp>
        <p:nvSpPr>
          <p:cNvPr id="6" name="chip-216"/>
          <p:cNvSpPr/>
          <p:nvPr/>
        </p:nvSpPr>
        <p:spPr>
          <a:xfrm>
            <a:off x="4572000" y="2542032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chip-text-217"/>
          <p:cNvSpPr txBox="1"/>
          <p:nvPr/>
        </p:nvSpPr>
        <p:spPr>
          <a:xfrm>
            <a:off x="4572000" y="25420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Partial</a:t>
            </a:r>
            <a:endParaRPr lang="en-US" sz="1100" dirty="0"/>
          </a:p>
        </p:txBody>
      </p:sp>
      <p:sp>
        <p:nvSpPr>
          <p:cNvPr id="8" name="text-218"/>
          <p:cNvSpPr txBox="1"/>
          <p:nvPr/>
        </p:nvSpPr>
        <p:spPr>
          <a:xfrm>
            <a:off x="6035040" y="245059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Works locally and on the production build; not yet public</a:t>
            </a:r>
            <a:endParaRPr lang="en-US" sz="1400" dirty="0"/>
          </a:p>
        </p:txBody>
      </p:sp>
      <p:sp>
        <p:nvSpPr>
          <p:cNvPr id="9" name="card-219"/>
          <p:cNvSpPr/>
          <p:nvPr/>
        </p:nvSpPr>
        <p:spPr>
          <a:xfrm>
            <a:off x="548640" y="3054096"/>
            <a:ext cx="11064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-220"/>
          <p:cNvSpPr txBox="1"/>
          <p:nvPr/>
        </p:nvSpPr>
        <p:spPr>
          <a:xfrm>
            <a:off x="822960" y="305409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O2  Answer-evaluation model</a:t>
            </a:r>
            <a:endParaRPr lang="en-US" sz="1500" dirty="0"/>
          </a:p>
        </p:txBody>
      </p:sp>
      <p:sp>
        <p:nvSpPr>
          <p:cNvPr id="11" name="chip-221"/>
          <p:cNvSpPr/>
          <p:nvPr/>
        </p:nvSpPr>
        <p:spPr>
          <a:xfrm>
            <a:off x="4572000" y="3145536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chip-text-222"/>
          <p:cNvSpPr txBox="1"/>
          <p:nvPr/>
        </p:nvSpPr>
        <p:spPr>
          <a:xfrm>
            <a:off x="4572000" y="31455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Changed</a:t>
            </a:r>
            <a:endParaRPr lang="en-US" sz="1100" dirty="0"/>
          </a:p>
        </p:txBody>
      </p:sp>
      <p:sp>
        <p:nvSpPr>
          <p:cNvPr id="13" name="text-223"/>
          <p:cNvSpPr txBox="1"/>
          <p:nvPr/>
        </p:nvSpPr>
        <p:spPr>
          <a:xfrm>
            <a:off x="6035040" y="305409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Rubric + similarity; human-rated validation still open</a:t>
            </a:r>
            <a:endParaRPr lang="en-US" sz="1400" dirty="0"/>
          </a:p>
        </p:txBody>
      </p:sp>
      <p:sp>
        <p:nvSpPr>
          <p:cNvPr id="14" name="card-224"/>
          <p:cNvSpPr/>
          <p:nvPr/>
        </p:nvSpPr>
        <p:spPr>
          <a:xfrm>
            <a:off x="548640" y="3657600"/>
            <a:ext cx="11064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-225"/>
          <p:cNvSpPr txBox="1"/>
          <p:nvPr/>
        </p:nvSpPr>
        <p:spPr>
          <a:xfrm>
            <a:off x="822960" y="36576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O3  Personalised questions</a:t>
            </a:r>
            <a:endParaRPr lang="en-US" sz="1500" dirty="0"/>
          </a:p>
        </p:txBody>
      </p:sp>
      <p:sp>
        <p:nvSpPr>
          <p:cNvPr id="16" name="chip-226"/>
          <p:cNvSpPr/>
          <p:nvPr/>
        </p:nvSpPr>
        <p:spPr>
          <a:xfrm>
            <a:off x="4572000" y="374904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chip-text-227"/>
          <p:cNvSpPr txBox="1"/>
          <p:nvPr/>
        </p:nvSpPr>
        <p:spPr>
          <a:xfrm>
            <a:off x="4572000" y="3749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Changed</a:t>
            </a:r>
            <a:endParaRPr lang="en-US" sz="1100" dirty="0"/>
          </a:p>
        </p:txBody>
      </p:sp>
      <p:sp>
        <p:nvSpPr>
          <p:cNvPr id="18" name="text-228"/>
          <p:cNvSpPr txBox="1"/>
          <p:nvPr/>
        </p:nvSpPr>
        <p:spPr>
          <a:xfrm>
            <a:off x="6035040" y="365760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Selected from a curated bank, not generated (D4)</a:t>
            </a:r>
            <a:endParaRPr lang="en-US" sz="1400" dirty="0"/>
          </a:p>
        </p:txBody>
      </p:sp>
      <p:sp>
        <p:nvSpPr>
          <p:cNvPr id="19" name="card-229"/>
          <p:cNvSpPr/>
          <p:nvPr/>
        </p:nvSpPr>
        <p:spPr>
          <a:xfrm>
            <a:off x="548640" y="4261104"/>
            <a:ext cx="11064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-230"/>
          <p:cNvSpPr txBox="1"/>
          <p:nvPr/>
        </p:nvSpPr>
        <p:spPr>
          <a:xfrm>
            <a:off x="822960" y="426110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O4  Feedback for every answer</a:t>
            </a:r>
            <a:endParaRPr lang="en-US" sz="1500" dirty="0"/>
          </a:p>
        </p:txBody>
      </p:sp>
      <p:sp>
        <p:nvSpPr>
          <p:cNvPr id="21" name="chip-231"/>
          <p:cNvSpPr/>
          <p:nvPr/>
        </p:nvSpPr>
        <p:spPr>
          <a:xfrm>
            <a:off x="4572000" y="4352544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chip-text-232"/>
          <p:cNvSpPr txBox="1"/>
          <p:nvPr/>
        </p:nvSpPr>
        <p:spPr>
          <a:xfrm>
            <a:off x="4572000" y="43525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Done</a:t>
            </a:r>
            <a:endParaRPr lang="en-US" sz="1100" dirty="0"/>
          </a:p>
        </p:txBody>
      </p:sp>
      <p:sp>
        <p:nvSpPr>
          <p:cNvPr id="23" name="text-233"/>
          <p:cNvSpPr txBox="1"/>
          <p:nvPr/>
        </p:nvSpPr>
        <p:spPr>
          <a:xfrm>
            <a:off x="6035040" y="426110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100% of answers, in milliseconds</a:t>
            </a:r>
            <a:endParaRPr lang="en-US" sz="1400" dirty="0"/>
          </a:p>
        </p:txBody>
      </p:sp>
      <p:sp>
        <p:nvSpPr>
          <p:cNvPr id="24" name="card-234"/>
          <p:cNvSpPr/>
          <p:nvPr/>
        </p:nvSpPr>
        <p:spPr>
          <a:xfrm>
            <a:off x="548640" y="4864608"/>
            <a:ext cx="11064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-235"/>
          <p:cNvSpPr txBox="1"/>
          <p:nvPr/>
        </p:nvSpPr>
        <p:spPr>
          <a:xfrm>
            <a:off x="822960" y="486460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O5  Monitored cloud deployment</a:t>
            </a:r>
            <a:endParaRPr lang="en-US" sz="1500" dirty="0"/>
          </a:p>
        </p:txBody>
      </p:sp>
      <p:sp>
        <p:nvSpPr>
          <p:cNvPr id="26" name="chip-236"/>
          <p:cNvSpPr/>
          <p:nvPr/>
        </p:nvSpPr>
        <p:spPr>
          <a:xfrm>
            <a:off x="4572000" y="4956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chip-text-237"/>
          <p:cNvSpPr txBox="1"/>
          <p:nvPr/>
        </p:nvSpPr>
        <p:spPr>
          <a:xfrm>
            <a:off x="4572000" y="4956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Not done</a:t>
            </a:r>
            <a:endParaRPr lang="en-US" sz="1100" dirty="0"/>
          </a:p>
        </p:txBody>
      </p:sp>
      <p:sp>
        <p:nvSpPr>
          <p:cNvPr id="28" name="text-238"/>
          <p:cNvSpPr txBox="1"/>
          <p:nvPr/>
        </p:nvSpPr>
        <p:spPr>
          <a:xfrm>
            <a:off x="6035040" y="486460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AWS deferred (D8); container ready</a:t>
            </a:r>
            <a:endParaRPr lang="en-US" sz="1400" dirty="0"/>
          </a:p>
        </p:txBody>
      </p:sp>
      <p:sp>
        <p:nvSpPr>
          <p:cNvPr id="29" name="card-239"/>
          <p:cNvSpPr/>
          <p:nvPr/>
        </p:nvSpPr>
        <p:spPr>
          <a:xfrm>
            <a:off x="548640" y="5468112"/>
            <a:ext cx="11064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-240"/>
          <p:cNvSpPr txBox="1"/>
          <p:nvPr/>
        </p:nvSpPr>
        <p:spPr>
          <a:xfrm>
            <a:off x="822960" y="546811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O6  Documentation and demo</a:t>
            </a:r>
            <a:endParaRPr lang="en-US" sz="1500" dirty="0"/>
          </a:p>
        </p:txBody>
      </p:sp>
      <p:sp>
        <p:nvSpPr>
          <p:cNvPr id="31" name="chip-241"/>
          <p:cNvSpPr/>
          <p:nvPr/>
        </p:nvSpPr>
        <p:spPr>
          <a:xfrm>
            <a:off x="4572000" y="5559552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chip-text-242"/>
          <p:cNvSpPr txBox="1"/>
          <p:nvPr/>
        </p:nvSpPr>
        <p:spPr>
          <a:xfrm>
            <a:off x="4572000" y="55595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Partial</a:t>
            </a:r>
            <a:endParaRPr lang="en-US" sz="1100" dirty="0"/>
          </a:p>
        </p:txBody>
      </p:sp>
      <p:sp>
        <p:nvSpPr>
          <p:cNvPr id="33" name="text-243"/>
          <p:cNvSpPr txBox="1"/>
          <p:nvPr/>
        </p:nvSpPr>
        <p:spPr>
          <a:xfrm>
            <a:off x="6035040" y="546811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Documents 1-7 complete; demo date to confirm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body" idx="105" hasCustomPrompt="1"/>
          </p:nvPr>
        </p:nvSpPr>
        <p:spPr>
          <a:xfrm>
            <a:off x="54864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3" name="Text 4"/>
          <p:cNvSpPr>
            <a:spLocks noGrp="1"/>
          </p:cNvSpPr>
          <p:nvPr>
            <p:ph type="title" idx="106" hasCustomPrompt="1"/>
          </p:nvPr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1F4"/>
                </a:solidFill>
              </a:rPr>
              <a:t>From working prototype to validated product</a:t>
            </a:r>
            <a:endParaRPr lang="en-US" sz="2800" dirty="0"/>
          </a:p>
        </p:txBody>
      </p:sp>
      <p:sp>
        <p:nvSpPr>
          <p:cNvPr id="4" name="card-244"/>
          <p:cNvSpPr/>
          <p:nvPr/>
        </p:nvSpPr>
        <p:spPr>
          <a:xfrm>
            <a:off x="548640" y="2560320"/>
            <a:ext cx="3520440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step-dot-245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44368"/>
            <a:ext cx="548640" cy="548640"/>
          </a:xfrm>
          <a:prstGeom prst="rect">
            <a:avLst/>
          </a:prstGeom>
        </p:spPr>
      </p:pic>
      <p:sp>
        <p:nvSpPr>
          <p:cNvPr id="6" name="text-246"/>
          <p:cNvSpPr txBox="1"/>
          <p:nvPr/>
        </p:nvSpPr>
        <p:spPr>
          <a:xfrm>
            <a:off x="82296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247"/>
          <p:cNvSpPr txBox="1"/>
          <p:nvPr/>
        </p:nvSpPr>
        <p:spPr>
          <a:xfrm>
            <a:off x="1554480" y="2788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Deploy publicly and add monitoring</a:t>
            </a:r>
            <a:endParaRPr lang="en-US" sz="1500" dirty="0"/>
          </a:p>
        </p:txBody>
      </p:sp>
      <p:sp>
        <p:nvSpPr>
          <p:cNvPr id="8" name="card-248"/>
          <p:cNvSpPr/>
          <p:nvPr/>
        </p:nvSpPr>
        <p:spPr>
          <a:xfrm>
            <a:off x="4297680" y="2560320"/>
            <a:ext cx="3520440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step-dot-249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44368"/>
            <a:ext cx="548640" cy="548640"/>
          </a:xfrm>
          <a:prstGeom prst="rect">
            <a:avLst/>
          </a:prstGeom>
        </p:spPr>
      </p:pic>
      <p:sp>
        <p:nvSpPr>
          <p:cNvPr id="10" name="text-250"/>
          <p:cNvSpPr txBox="1"/>
          <p:nvPr/>
        </p:nvSpPr>
        <p:spPr>
          <a:xfrm>
            <a:off x="457200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251"/>
          <p:cNvSpPr txBox="1"/>
          <p:nvPr/>
        </p:nvSpPr>
        <p:spPr>
          <a:xfrm>
            <a:off x="5303520" y="2788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Validate scores against human raters</a:t>
            </a:r>
            <a:endParaRPr lang="en-US" sz="1500" dirty="0"/>
          </a:p>
        </p:txBody>
      </p:sp>
      <p:sp>
        <p:nvSpPr>
          <p:cNvPr id="12" name="card-252"/>
          <p:cNvSpPr/>
          <p:nvPr/>
        </p:nvSpPr>
        <p:spPr>
          <a:xfrm>
            <a:off x="8046720" y="2560320"/>
            <a:ext cx="3520440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step-dot-253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944368"/>
            <a:ext cx="548640" cy="548640"/>
          </a:xfrm>
          <a:prstGeom prst="rect">
            <a:avLst/>
          </a:prstGeom>
        </p:spPr>
      </p:pic>
      <p:sp>
        <p:nvSpPr>
          <p:cNvPr id="14" name="text-254"/>
          <p:cNvSpPr txBox="1"/>
          <p:nvPr/>
        </p:nvSpPr>
        <p:spPr>
          <a:xfrm>
            <a:off x="832104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-255"/>
          <p:cNvSpPr txBox="1"/>
          <p:nvPr/>
        </p:nvSpPr>
        <p:spPr>
          <a:xfrm>
            <a:off x="9052560" y="2788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Benchmark the local embedding model</a:t>
            </a:r>
            <a:endParaRPr lang="en-US" sz="1500" dirty="0"/>
          </a:p>
        </p:txBody>
      </p:sp>
      <p:sp>
        <p:nvSpPr>
          <p:cNvPr id="16" name="card-256"/>
          <p:cNvSpPr/>
          <p:nvPr/>
        </p:nvSpPr>
        <p:spPr>
          <a:xfrm>
            <a:off x="548640" y="4160520"/>
            <a:ext cx="3520440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step-dot-257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44568"/>
            <a:ext cx="548640" cy="548640"/>
          </a:xfrm>
          <a:prstGeom prst="rect">
            <a:avLst/>
          </a:prstGeom>
        </p:spPr>
      </p:pic>
      <p:sp>
        <p:nvSpPr>
          <p:cNvPr id="18" name="text-258"/>
          <p:cNvSpPr txBox="1"/>
          <p:nvPr/>
        </p:nvSpPr>
        <p:spPr>
          <a:xfrm>
            <a:off x="82296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-259"/>
          <p:cNvSpPr txBox="1"/>
          <p:nvPr/>
        </p:nvSpPr>
        <p:spPr>
          <a:xfrm>
            <a:off x="1554480" y="43891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 tests automatically on every pull request</a:t>
            </a:r>
            <a:endParaRPr lang="en-US" sz="1500" dirty="0"/>
          </a:p>
        </p:txBody>
      </p:sp>
      <p:sp>
        <p:nvSpPr>
          <p:cNvPr id="20" name="card-260"/>
          <p:cNvSpPr/>
          <p:nvPr/>
        </p:nvSpPr>
        <p:spPr>
          <a:xfrm>
            <a:off x="4297680" y="4160520"/>
            <a:ext cx="3520440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step-dot-261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544568"/>
            <a:ext cx="548640" cy="548640"/>
          </a:xfrm>
          <a:prstGeom prst="rect">
            <a:avLst/>
          </a:prstGeom>
        </p:spPr>
      </p:pic>
      <p:sp>
        <p:nvSpPr>
          <p:cNvPr id="22" name="text-262"/>
          <p:cNvSpPr txBox="1"/>
          <p:nvPr/>
        </p:nvSpPr>
        <p:spPr>
          <a:xfrm>
            <a:off x="457200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-263"/>
          <p:cNvSpPr txBox="1"/>
          <p:nvPr/>
        </p:nvSpPr>
        <p:spPr>
          <a:xfrm>
            <a:off x="5303520" y="43891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Resume interviews after a page reload</a:t>
            </a:r>
            <a:endParaRPr lang="en-US" sz="1500" dirty="0"/>
          </a:p>
        </p:txBody>
      </p:sp>
      <p:sp>
        <p:nvSpPr>
          <p:cNvPr id="24" name="card-264"/>
          <p:cNvSpPr/>
          <p:nvPr/>
        </p:nvSpPr>
        <p:spPr>
          <a:xfrm>
            <a:off x="8046720" y="4160520"/>
            <a:ext cx="3520440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step-dot-265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44568"/>
            <a:ext cx="548640" cy="548640"/>
          </a:xfrm>
          <a:prstGeom prst="rect">
            <a:avLst/>
          </a:prstGeom>
        </p:spPr>
      </p:pic>
      <p:sp>
        <p:nvSpPr>
          <p:cNvPr id="26" name="text-266"/>
          <p:cNvSpPr txBox="1"/>
          <p:nvPr/>
        </p:nvSpPr>
        <p:spPr>
          <a:xfrm>
            <a:off x="832104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-267"/>
          <p:cNvSpPr txBox="1"/>
          <p:nvPr/>
        </p:nvSpPr>
        <p:spPr>
          <a:xfrm>
            <a:off x="9052560" y="43891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User study with five first-time users</a:t>
            </a:r>
            <a:endParaRPr lang="en-US" sz="1500" dirty="0"/>
          </a:p>
        </p:txBody>
      </p:sp>
      <p:sp>
        <p:nvSpPr>
          <p:cNvPr id="28" name="text-268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Then: voice answers and approved LLM generation, behind the same policy checks.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A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69"/>
          <p:cNvSpPr txBox="1"/>
          <p:nvPr/>
        </p:nvSpPr>
        <p:spPr>
          <a:xfrm>
            <a:off x="54864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-270"/>
          <p:cNvSpPr txBox="1"/>
          <p:nvPr/>
        </p:nvSpPr>
        <p:spPr>
          <a:xfrm>
            <a:off x="54864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card-271"/>
          <p:cNvSpPr/>
          <p:nvPr/>
        </p:nvSpPr>
        <p:spPr>
          <a:xfrm>
            <a:off x="548640" y="3063240"/>
            <a:ext cx="3520440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avatar-272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37560"/>
            <a:ext cx="548640" cy="548640"/>
          </a:xfrm>
          <a:prstGeom prst="rect">
            <a:avLst/>
          </a:prstGeom>
        </p:spPr>
      </p:pic>
      <p:sp>
        <p:nvSpPr>
          <p:cNvPr id="6" name="text-273"/>
          <p:cNvSpPr txBox="1"/>
          <p:nvPr/>
        </p:nvSpPr>
        <p:spPr>
          <a:xfrm>
            <a:off x="804672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</a:t>
            </a:r>
            <a:endParaRPr lang="en-US" sz="1300" dirty="0"/>
          </a:p>
        </p:txBody>
      </p:sp>
      <p:sp>
        <p:nvSpPr>
          <p:cNvPr id="7" name="text-274"/>
          <p:cNvSpPr txBox="1"/>
          <p:nvPr/>
        </p:nvSpPr>
        <p:spPr>
          <a:xfrm>
            <a:off x="1508760" y="32644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Mennatullah Essam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Cloud / DevOps</a:t>
            </a:r>
            <a:endParaRPr lang="en-US" sz="1500" dirty="0"/>
          </a:p>
        </p:txBody>
      </p:sp>
      <p:sp>
        <p:nvSpPr>
          <p:cNvPr id="8" name="card-275"/>
          <p:cNvSpPr/>
          <p:nvPr/>
        </p:nvSpPr>
        <p:spPr>
          <a:xfrm>
            <a:off x="4297680" y="3063240"/>
            <a:ext cx="3520440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avatar-276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3337560"/>
            <a:ext cx="548640" cy="548640"/>
          </a:xfrm>
          <a:prstGeom prst="rect">
            <a:avLst/>
          </a:prstGeom>
        </p:spPr>
      </p:pic>
      <p:sp>
        <p:nvSpPr>
          <p:cNvPr id="10" name="text-277"/>
          <p:cNvSpPr txBox="1"/>
          <p:nvPr/>
        </p:nvSpPr>
        <p:spPr>
          <a:xfrm>
            <a:off x="4553712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SM</a:t>
            </a:r>
            <a:endParaRPr lang="en-US" sz="1300" dirty="0"/>
          </a:p>
        </p:txBody>
      </p:sp>
      <p:sp>
        <p:nvSpPr>
          <p:cNvPr id="11" name="text-278"/>
          <p:cNvSpPr txBox="1"/>
          <p:nvPr/>
        </p:nvSpPr>
        <p:spPr>
          <a:xfrm>
            <a:off x="5257800" y="32644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Sawsan Mahmoud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Backend</a:t>
            </a:r>
            <a:endParaRPr lang="en-US" sz="1500" dirty="0"/>
          </a:p>
        </p:txBody>
      </p:sp>
      <p:sp>
        <p:nvSpPr>
          <p:cNvPr id="12" name="card-279"/>
          <p:cNvSpPr/>
          <p:nvPr/>
        </p:nvSpPr>
        <p:spPr>
          <a:xfrm>
            <a:off x="8046720" y="3063240"/>
            <a:ext cx="3520440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avatar-280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3337560"/>
            <a:ext cx="548640" cy="548640"/>
          </a:xfrm>
          <a:prstGeom prst="rect">
            <a:avLst/>
          </a:prstGeom>
        </p:spPr>
      </p:pic>
      <p:sp>
        <p:nvSpPr>
          <p:cNvPr id="14" name="text-281"/>
          <p:cNvSpPr txBox="1"/>
          <p:nvPr/>
        </p:nvSpPr>
        <p:spPr>
          <a:xfrm>
            <a:off x="8302752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</a:t>
            </a:r>
            <a:endParaRPr lang="en-US" sz="1300" dirty="0"/>
          </a:p>
        </p:txBody>
      </p:sp>
      <p:sp>
        <p:nvSpPr>
          <p:cNvPr id="15" name="text-282"/>
          <p:cNvSpPr txBox="1"/>
          <p:nvPr/>
        </p:nvSpPr>
        <p:spPr>
          <a:xfrm>
            <a:off x="9006840" y="32644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George Ehab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Machine Learning</a:t>
            </a:r>
            <a:endParaRPr lang="en-US" sz="1500" dirty="0"/>
          </a:p>
        </p:txBody>
      </p:sp>
      <p:sp>
        <p:nvSpPr>
          <p:cNvPr id="16" name="card-283"/>
          <p:cNvSpPr/>
          <p:nvPr/>
        </p:nvSpPr>
        <p:spPr>
          <a:xfrm>
            <a:off x="548640" y="4389120"/>
            <a:ext cx="3520440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avatar-284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663440"/>
            <a:ext cx="548640" cy="548640"/>
          </a:xfrm>
          <a:prstGeom prst="rect">
            <a:avLst/>
          </a:prstGeom>
        </p:spPr>
      </p:pic>
      <p:sp>
        <p:nvSpPr>
          <p:cNvPr id="18" name="text-285"/>
          <p:cNvSpPr txBox="1"/>
          <p:nvPr/>
        </p:nvSpPr>
        <p:spPr>
          <a:xfrm>
            <a:off x="804672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AH</a:t>
            </a:r>
            <a:endParaRPr lang="en-US" sz="1300" dirty="0"/>
          </a:p>
        </p:txBody>
      </p:sp>
      <p:sp>
        <p:nvSpPr>
          <p:cNvPr id="19" name="text-286"/>
          <p:cNvSpPr txBox="1"/>
          <p:nvPr/>
        </p:nvSpPr>
        <p:spPr>
          <a:xfrm>
            <a:off x="1508760" y="45902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Ahmed Hamdy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Database</a:t>
            </a:r>
            <a:endParaRPr lang="en-US" sz="1500" dirty="0"/>
          </a:p>
        </p:txBody>
      </p:sp>
      <p:sp>
        <p:nvSpPr>
          <p:cNvPr id="20" name="card-287"/>
          <p:cNvSpPr/>
          <p:nvPr/>
        </p:nvSpPr>
        <p:spPr>
          <a:xfrm>
            <a:off x="4297680" y="4389120"/>
            <a:ext cx="3520440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avatar-288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4663440"/>
            <a:ext cx="548640" cy="548640"/>
          </a:xfrm>
          <a:prstGeom prst="rect">
            <a:avLst/>
          </a:prstGeom>
        </p:spPr>
      </p:pic>
      <p:sp>
        <p:nvSpPr>
          <p:cNvPr id="22" name="text-289"/>
          <p:cNvSpPr txBox="1"/>
          <p:nvPr/>
        </p:nvSpPr>
        <p:spPr>
          <a:xfrm>
            <a:off x="4553712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AH</a:t>
            </a:r>
            <a:endParaRPr lang="en-US" sz="1300" dirty="0"/>
          </a:p>
        </p:txBody>
      </p:sp>
      <p:sp>
        <p:nvSpPr>
          <p:cNvPr id="23" name="text-290"/>
          <p:cNvSpPr txBox="1"/>
          <p:nvPr/>
        </p:nvSpPr>
        <p:spPr>
          <a:xfrm>
            <a:off x="5257800" y="45902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Anas Hany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Frontend</a:t>
            </a:r>
            <a:endParaRPr lang="en-US" sz="1500" dirty="0"/>
          </a:p>
        </p:txBody>
      </p:sp>
      <p:sp>
        <p:nvSpPr>
          <p:cNvPr id="24" name="card-291"/>
          <p:cNvSpPr/>
          <p:nvPr/>
        </p:nvSpPr>
        <p:spPr>
          <a:xfrm>
            <a:off x="8046720" y="4389120"/>
            <a:ext cx="3520440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rgbClr val="2626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avatar-292" descr="/tmp/claude-0/-home-claude/aa785369-967a-5676-bfea-1cdcb377fcf3/scratchpad/ppt/img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4663440"/>
            <a:ext cx="548640" cy="548640"/>
          </a:xfrm>
          <a:prstGeom prst="rect">
            <a:avLst/>
          </a:prstGeom>
        </p:spPr>
      </p:pic>
      <p:sp>
        <p:nvSpPr>
          <p:cNvPr id="26" name="text-293"/>
          <p:cNvSpPr txBox="1"/>
          <p:nvPr/>
        </p:nvSpPr>
        <p:spPr>
          <a:xfrm>
            <a:off x="8302752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BS</a:t>
            </a:r>
            <a:endParaRPr lang="en-US" sz="1300" dirty="0"/>
          </a:p>
        </p:txBody>
      </p:sp>
      <p:sp>
        <p:nvSpPr>
          <p:cNvPr id="27" name="text-294"/>
          <p:cNvSpPr txBox="1"/>
          <p:nvPr/>
        </p:nvSpPr>
        <p:spPr>
          <a:xfrm>
            <a:off x="9006840" y="45902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Belal Salah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GenAI integration</a:t>
            </a:r>
            <a:endParaRPr lang="en-US" sz="1500" dirty="0"/>
          </a:p>
        </p:txBody>
      </p:sp>
      <p:sp>
        <p:nvSpPr>
          <p:cNvPr id="28" name="text-295"/>
          <p:cNvSpPr txBox="1"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github.com/Mennatullah-essam/ai-interview-coach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view Coach Dark">
  <a:themeElements>
    <a:clrScheme name="Interview Coach Dark">
      <a:dk1>
        <a:srgbClr val="F1F1F4"/>
      </a:dk1>
      <a:lt1>
        <a:srgbClr val="0A0A0D"/>
      </a:lt1>
      <a:dk2>
        <a:srgbClr val="9A9AA5"/>
      </a:dk2>
      <a:lt2>
        <a:srgbClr val="141419"/>
      </a:lt2>
      <a:accent1>
        <a:srgbClr val="818CF8"/>
      </a:accent1>
      <a:accent2>
        <a:srgbClr val="7C3AED"/>
      </a:accent2>
      <a:accent3>
        <a:srgbClr val="34D399"/>
      </a:accent3>
      <a:accent4>
        <a:srgbClr val="FBBF24"/>
      </a:accent4>
      <a:accent5>
        <a:srgbClr val="F87171"/>
      </a:accent5>
      <a:accent6>
        <a:srgbClr val="4F46E5"/>
      </a:accent6>
      <a:hlink>
        <a:srgbClr val="A5B4FC"/>
      </a:hlink>
      <a:folHlink>
        <a:srgbClr val="C4B5FD"/>
      </a:folHlink>
    </a:clrScheme>
    <a:fontScheme name="Interview Coach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1445</Words>
  <Application>Microsoft Office PowerPoint</Application>
  <PresentationFormat>Widescreen</PresentationFormat>
  <Paragraphs>230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Interview Coach Dark</vt:lpstr>
      <vt:lpstr>PowerPoint Presentation</vt:lpstr>
      <vt:lpstr>Candidates practise without specific, repeatable feedback</vt:lpstr>
      <vt:lpstr>Your own CV, every score explained, a plan to follow</vt:lpstr>
      <vt:lpstr>One interview, from setup to results</vt:lpstr>
      <vt:lpstr>A layered monolith: rules decide, AI adds evidence</vt:lpstr>
      <vt:lpstr>Six explained dimensions, not one opaque number</vt:lpstr>
      <vt:lpstr>Feedback quotes the answer; follow-ups are policy-checked</vt:lpstr>
      <vt:lpstr>Questions fit the person; the plan follows the evidence</vt:lpstr>
      <vt:lpstr>A CV is personal data: it stays in its owner’s account</vt:lpstr>
      <vt:lpstr>Tested at every layer, honest about the gaps</vt:lpstr>
      <vt:lpstr>Constraints that shaped the design</vt:lpstr>
      <vt:lpstr>Objectives O1 to O6</vt:lpstr>
      <vt:lpstr>From working prototype to validated product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Interview Coach - Final Presentation</dc:title>
  <dc:subject>PptxGenJS Presentation</dc:subject>
  <dc:creator>Team 147</dc:creator>
  <cp:lastModifiedBy>menatullah 320240199</cp:lastModifiedBy>
  <cp:revision>2</cp:revision>
  <dcterms:created xsi:type="dcterms:W3CDTF">2026-10-23T23:18:23Z</dcterms:created>
  <dcterms:modified xsi:type="dcterms:W3CDTF">2026-10-23T23:23:46Z</dcterms:modified>
</cp:coreProperties>
</file>